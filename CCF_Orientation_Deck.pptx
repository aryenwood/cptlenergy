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234"/>
        </a:solidFill>
      </p:bgPr>
    </p:bg>
    <p:spTree>
      <p:nvGrpSpPr>
        <p:cNvPr id="1" name=""/>
        <p:cNvGrpSpPr/>
        <p:nvPr/>
      </p:nvGrpSpPr>
      <p:grpSpPr>
        <a:xfrm>
          <a:off x="0" y="0"/>
          <a:ext cx="0" cy="0"/>
          <a:chOff x="0" y="0"/>
          <a:chExt cx="0" cy="0"/>
        </a:xfrm>
      </p:grpSpPr>
      <p:pic>
        <p:nvPicPr>
          <p:cNvPr id="2" name="Image 0" descr="/tmp/ccf_images/hero.jpg">    </p:cNvPr>
          <p:cNvPicPr>
            <a:picLocks noChangeAspect="1"/>
          </p:cNvPicPr>
          <p:nvPr/>
        </p:nvPicPr>
        <p:blipFill>
          <a:blip r:embed="rId1"/>
          <a:srcRect l="0" r="0" t="0" b="0"/>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162234">
              <a:alpha val="60000"/>
            </a:srgbClr>
          </a:solidFill>
          <a:ln/>
        </p:spPr>
      </p:sp>
      <p:sp>
        <p:nvSpPr>
          <p:cNvPr id="4" name="Shape 1"/>
          <p:cNvSpPr/>
          <p:nvPr/>
        </p:nvSpPr>
        <p:spPr>
          <a:xfrm>
            <a:off x="0" y="0"/>
            <a:ext cx="12192000" cy="54864"/>
          </a:xfrm>
          <a:prstGeom prst="rect">
            <a:avLst/>
          </a:prstGeom>
          <a:solidFill>
            <a:srgbClr val="BF1120"/>
          </a:solidFill>
          <a:ln/>
        </p:spPr>
      </p:sp>
      <p:pic>
        <p:nvPicPr>
          <p:cNvPr id="5" name="Image 1" descr="/tmp/ccf_images/logo.jpg">    </p:cNvPr>
          <p:cNvPicPr>
            <a:picLocks noChangeAspect="1"/>
          </p:cNvPicPr>
          <p:nvPr/>
        </p:nvPicPr>
        <p:blipFill>
          <a:blip r:embed="rId2"/>
          <a:srcRect l="0" r="0" t="0" b="0"/>
          <a:stretch/>
        </p:blipFill>
        <p:spPr>
          <a:xfrm>
            <a:off x="731520" y="548640"/>
            <a:ext cx="2011680" cy="731520"/>
          </a:xfrm>
          <a:prstGeom prst="rect">
            <a:avLst/>
          </a:prstGeom>
        </p:spPr>
      </p:pic>
      <p:sp>
        <p:nvSpPr>
          <p:cNvPr id="6" name="Text 2"/>
          <p:cNvSpPr/>
          <p:nvPr/>
        </p:nvSpPr>
        <p:spPr>
          <a:xfrm>
            <a:off x="731520" y="4572000"/>
            <a:ext cx="5486400" cy="274320"/>
          </a:xfrm>
          <a:prstGeom prst="rect">
            <a:avLst/>
          </a:prstGeom>
          <a:noFill/>
          <a:ln/>
        </p:spPr>
        <p:txBody>
          <a:bodyPr wrap="square" rtlCol="0" anchor="ctr"/>
          <a:lstStyle/>
          <a:p>
            <a:pPr indent="0" marL="0">
              <a:buNone/>
            </a:pPr>
            <a:r>
              <a:rPr lang="en-US" sz="900" spc="200" kern="0" dirty="0">
                <a:solidFill>
                  <a:srgbClr val="FFFFFF"/>
                </a:solidFill>
                <a:latin typeface="Courier New" pitchFamily="34" charset="0"/>
                <a:ea typeface="Courier New" pitchFamily="34" charset="-122"/>
                <a:cs typeface="Courier New" pitchFamily="34" charset="-120"/>
              </a:rPr>
              <a:t>COMPLETE CUSTOM FENCE  ·  GROVELAND, FL</a:t>
            </a:r>
            <a:endParaRPr lang="en-US" sz="900" dirty="0"/>
          </a:p>
        </p:txBody>
      </p:sp>
      <p:sp>
        <p:nvSpPr>
          <p:cNvPr id="7" name="Text 3"/>
          <p:cNvSpPr/>
          <p:nvPr/>
        </p:nvSpPr>
        <p:spPr>
          <a:xfrm>
            <a:off x="731520" y="4846320"/>
            <a:ext cx="7315200" cy="1463040"/>
          </a:xfrm>
          <a:prstGeom prst="rect">
            <a:avLst/>
          </a:prstGeom>
          <a:noFill/>
          <a:ln/>
        </p:spPr>
        <p:txBody>
          <a:bodyPr wrap="square" rtlCol="0" anchor="ctr"/>
          <a:lstStyle/>
          <a:p>
            <a:pPr indent="0" marL="0">
              <a:lnSpc>
                <a:spcPct val="90000"/>
              </a:lnSpc>
              <a:buNone/>
            </a:pPr>
            <a:r>
              <a:rPr lang="en-US" sz="5400" b="1" dirty="0">
                <a:solidFill>
                  <a:srgbClr val="FFFFFF"/>
                </a:solidFill>
                <a:latin typeface="Georgia" pitchFamily="34" charset="0"/>
                <a:ea typeface="Georgia" pitchFamily="34" charset="-122"/>
                <a:cs typeface="Georgia" pitchFamily="34" charset="-120"/>
              </a:rPr>
              <a:t>Welcome to</a:t>
            </a:r>
            <a:endParaRPr lang="en-US" sz="5400" dirty="0"/>
          </a:p>
          <a:p>
            <a:pPr indent="0" marL="0">
              <a:lnSpc>
                <a:spcPct val="90000"/>
              </a:lnSpc>
              <a:buNone/>
            </a:pPr>
            <a:r>
              <a:rPr lang="en-US" sz="5400" b="1" dirty="0">
                <a:solidFill>
                  <a:srgbClr val="FFFFFF"/>
                </a:solidFill>
                <a:latin typeface="Georgia" pitchFamily="34" charset="0"/>
                <a:ea typeface="Georgia" pitchFamily="34" charset="-122"/>
                <a:cs typeface="Georgia" pitchFamily="34" charset="-120"/>
              </a:rPr>
              <a:t>the team.</a:t>
            </a:r>
            <a:endParaRPr lang="en-US" sz="5400" dirty="0"/>
          </a:p>
        </p:txBody>
      </p:sp>
      <p:sp>
        <p:nvSpPr>
          <p:cNvPr id="8" name="Shape 4"/>
          <p:cNvSpPr/>
          <p:nvPr/>
        </p:nvSpPr>
        <p:spPr>
          <a:xfrm>
            <a:off x="731520" y="6400800"/>
            <a:ext cx="1828800" cy="292608"/>
          </a:xfrm>
          <a:prstGeom prst="roundRect">
            <a:avLst>
              <a:gd name="adj" fmla="val 50000"/>
            </a:avLst>
          </a:prstGeom>
          <a:solidFill>
            <a:srgbClr val="FFFFFF">
              <a:alpha val="15000"/>
            </a:srgbClr>
          </a:solidFill>
          <a:ln w="6350">
            <a:solidFill>
              <a:srgbClr val="FFFFFF">
                <a:alpha val="30000"/>
              </a:srgbClr>
            </a:solidFill>
            <a:prstDash val="solid"/>
          </a:ln>
        </p:spPr>
      </p:sp>
      <p:sp>
        <p:nvSpPr>
          <p:cNvPr id="9" name="Text 5"/>
          <p:cNvSpPr/>
          <p:nvPr/>
        </p:nvSpPr>
        <p:spPr>
          <a:xfrm>
            <a:off x="731520" y="6400800"/>
            <a:ext cx="1828800" cy="292608"/>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20+ Years</a:t>
            </a:r>
            <a:endParaRPr lang="en-US" sz="800" dirty="0"/>
          </a:p>
        </p:txBody>
      </p:sp>
      <p:sp>
        <p:nvSpPr>
          <p:cNvPr id="10" name="Shape 6"/>
          <p:cNvSpPr/>
          <p:nvPr/>
        </p:nvSpPr>
        <p:spPr>
          <a:xfrm>
            <a:off x="2743200" y="6400800"/>
            <a:ext cx="1828800" cy="292608"/>
          </a:xfrm>
          <a:prstGeom prst="roundRect">
            <a:avLst>
              <a:gd name="adj" fmla="val 50000"/>
            </a:avLst>
          </a:prstGeom>
          <a:solidFill>
            <a:srgbClr val="FFFFFF">
              <a:alpha val="15000"/>
            </a:srgbClr>
          </a:solidFill>
          <a:ln w="6350">
            <a:solidFill>
              <a:srgbClr val="FFFFFF">
                <a:alpha val="30000"/>
              </a:srgbClr>
            </a:solidFill>
            <a:prstDash val="solid"/>
          </a:ln>
        </p:spPr>
      </p:sp>
      <p:sp>
        <p:nvSpPr>
          <p:cNvPr id="11" name="Text 7"/>
          <p:cNvSpPr/>
          <p:nvPr/>
        </p:nvSpPr>
        <p:spPr>
          <a:xfrm>
            <a:off x="2743200" y="6400800"/>
            <a:ext cx="1828800" cy="292608"/>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American-Made</a:t>
            </a:r>
            <a:endParaRPr lang="en-US" sz="800" dirty="0"/>
          </a:p>
        </p:txBody>
      </p:sp>
      <p:sp>
        <p:nvSpPr>
          <p:cNvPr id="12" name="Shape 8"/>
          <p:cNvSpPr/>
          <p:nvPr/>
        </p:nvSpPr>
        <p:spPr>
          <a:xfrm>
            <a:off x="4754880" y="6400800"/>
            <a:ext cx="1828800" cy="292608"/>
          </a:xfrm>
          <a:prstGeom prst="roundRect">
            <a:avLst>
              <a:gd name="adj" fmla="val 50000"/>
            </a:avLst>
          </a:prstGeom>
          <a:solidFill>
            <a:srgbClr val="FFFFFF">
              <a:alpha val="15000"/>
            </a:srgbClr>
          </a:solidFill>
          <a:ln w="6350">
            <a:solidFill>
              <a:srgbClr val="FFFFFF">
                <a:alpha val="30000"/>
              </a:srgbClr>
            </a:solidFill>
            <a:prstDash val="solid"/>
          </a:ln>
        </p:spPr>
      </p:sp>
      <p:sp>
        <p:nvSpPr>
          <p:cNvPr id="13" name="Text 9"/>
          <p:cNvSpPr/>
          <p:nvPr/>
        </p:nvSpPr>
        <p:spPr>
          <a:xfrm>
            <a:off x="4754880" y="6400800"/>
            <a:ext cx="1828800" cy="292608"/>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Lifetime Warranty</a:t>
            </a:r>
            <a:endParaRPr lang="en-US" sz="800" dirty="0"/>
          </a:p>
        </p:txBody>
      </p:sp>
      <p:sp>
        <p:nvSpPr>
          <p:cNvPr id="14" name="Shape 10"/>
          <p:cNvSpPr/>
          <p:nvPr/>
        </p:nvSpPr>
        <p:spPr>
          <a:xfrm>
            <a:off x="6766560" y="6400800"/>
            <a:ext cx="1828800" cy="292608"/>
          </a:xfrm>
          <a:prstGeom prst="roundRect">
            <a:avLst>
              <a:gd name="adj" fmla="val 50000"/>
            </a:avLst>
          </a:prstGeom>
          <a:solidFill>
            <a:srgbClr val="FFFFFF">
              <a:alpha val="15000"/>
            </a:srgbClr>
          </a:solidFill>
          <a:ln w="6350">
            <a:solidFill>
              <a:srgbClr val="FFFFFF">
                <a:alpha val="30000"/>
              </a:srgbClr>
            </a:solidFill>
            <a:prstDash val="solid"/>
          </a:ln>
        </p:spPr>
      </p:sp>
      <p:sp>
        <p:nvSpPr>
          <p:cNvPr id="15" name="Text 11"/>
          <p:cNvSpPr/>
          <p:nvPr/>
        </p:nvSpPr>
        <p:spPr>
          <a:xfrm>
            <a:off x="6766560" y="6400800"/>
            <a:ext cx="1828800" cy="292608"/>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Real Leads · Real Commissions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A3B"/>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BF1120"/>
          </a:solidFill>
          <a:ln/>
        </p:spPr>
      </p:sp>
      <p:sp>
        <p:nvSpPr>
          <p:cNvPr id="3" name="Shape 1"/>
          <p:cNvSpPr/>
          <p:nvPr/>
        </p:nvSpPr>
        <p:spPr>
          <a:xfrm>
            <a:off x="0" y="0"/>
            <a:ext cx="54864" cy="6858000"/>
          </a:xfrm>
          <a:prstGeom prst="rect">
            <a:avLst/>
          </a:prstGeom>
          <a:solidFill>
            <a:srgbClr val="BF1120"/>
          </a:solidFill>
          <a:ln/>
        </p:spPr>
      </p:sp>
      <p:sp>
        <p:nvSpPr>
          <p:cNvPr id="4" name="Text 2"/>
          <p:cNvSpPr/>
          <p:nvPr/>
        </p:nvSpPr>
        <p:spPr>
          <a:xfrm>
            <a:off x="640080" y="365760"/>
            <a:ext cx="3657600" cy="228600"/>
          </a:xfrm>
          <a:prstGeom prst="rect">
            <a:avLst/>
          </a:prstGeom>
          <a:noFill/>
          <a:ln/>
        </p:spPr>
        <p:txBody>
          <a:bodyPr wrap="square" rtlCol="0" anchor="ctr"/>
          <a:lstStyle/>
          <a:p>
            <a:pPr indent="0" marL="0">
              <a:buNone/>
            </a:pPr>
            <a:r>
              <a:rPr lang="en-US" sz="800" spc="200" kern="0" dirty="0">
                <a:solidFill>
                  <a:srgbClr val="8898AA"/>
                </a:solidFill>
                <a:latin typeface="Courier New" pitchFamily="34" charset="0"/>
                <a:ea typeface="Courier New" pitchFamily="34" charset="-122"/>
                <a:cs typeface="Courier New" pitchFamily="34" charset="-120"/>
              </a:rPr>
              <a:t>A NOTE FROM OWNERSHIP</a:t>
            </a:r>
            <a:endParaRPr lang="en-US" sz="800" dirty="0"/>
          </a:p>
        </p:txBody>
      </p:sp>
      <p:sp>
        <p:nvSpPr>
          <p:cNvPr id="5" name="Text 3"/>
          <p:cNvSpPr/>
          <p:nvPr/>
        </p:nvSpPr>
        <p:spPr>
          <a:xfrm>
            <a:off x="640080" y="731520"/>
            <a:ext cx="68580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We're glad you're here.</a:t>
            </a:r>
            <a:endParaRPr lang="en-US" sz="2800" dirty="0"/>
          </a:p>
        </p:txBody>
      </p:sp>
      <p:sp>
        <p:nvSpPr>
          <p:cNvPr id="6" name="Text 4"/>
          <p:cNvSpPr/>
          <p:nvPr/>
        </p:nvSpPr>
        <p:spPr>
          <a:xfrm>
            <a:off x="640080" y="1463040"/>
            <a:ext cx="6858000" cy="3840480"/>
          </a:xfrm>
          <a:prstGeom prst="rect">
            <a:avLst/>
          </a:prstGeom>
          <a:noFill/>
          <a:ln/>
        </p:spPr>
        <p:txBody>
          <a:bodyPr wrap="square" rtlCol="0" anchor="ctr"/>
          <a:lstStyle/>
          <a:p>
            <a:pPr indent="0" marL="0">
              <a:lnSpc>
                <a:spcPct val="140000"/>
              </a:lnSpc>
              <a:buNone/>
            </a:pPr>
            <a:r>
              <a:rPr lang="en-US" sz="1200" dirty="0">
                <a:solidFill>
                  <a:srgbClr val="B8C4D4"/>
                </a:solidFill>
                <a:latin typeface="Calibri" pitchFamily="34" charset="0"/>
                <a:ea typeface="Calibri" pitchFamily="34" charset="-122"/>
                <a:cs typeface="Calibri" pitchFamily="34" charset="-120"/>
              </a:rPr>
              <a:t>Complete Custom Fence was built on a simple idea: do the job right, treat people like they matter, and the reputation takes care of itself. Twenty years later, that's still the whole strategy.</a:t>
            </a:r>
            <a:endParaRPr lang="en-US" sz="1200" dirty="0"/>
          </a:p>
          <a:p>
            <a:pPr indent="0" marL="0">
              <a:lnSpc>
                <a:spcPct val="140000"/>
              </a:lnSpc>
              <a:buNone/>
            </a:pPr>
            <a:endParaRPr lang="en-US" sz="1200" dirty="0"/>
          </a:p>
          <a:p>
            <a:pPr indent="0" marL="0">
              <a:lnSpc>
                <a:spcPct val="140000"/>
              </a:lnSpc>
              <a:buNone/>
            </a:pPr>
            <a:r>
              <a:rPr lang="en-US" sz="1200" dirty="0">
                <a:solidFill>
                  <a:srgbClr val="B8C4D4"/>
                </a:solidFill>
                <a:latin typeface="Calibri" pitchFamily="34" charset="0"/>
                <a:ea typeface="Calibri" pitchFamily="34" charset="-122"/>
                <a:cs typeface="Calibri" pitchFamily="34" charset="-120"/>
              </a:rPr>
              <a:t>When you show up to a job site wearing this company's name, you're carrying something we worked hard to build. We're going to do everything on our end to make sure you're proud to carry it.</a:t>
            </a:r>
            <a:endParaRPr lang="en-US" sz="1200" dirty="0"/>
          </a:p>
          <a:p>
            <a:pPr indent="0" marL="0">
              <a:lnSpc>
                <a:spcPct val="140000"/>
              </a:lnSpc>
              <a:buNone/>
            </a:pPr>
            <a:endParaRPr lang="en-US" sz="1200" dirty="0"/>
          </a:p>
          <a:p>
            <a:pPr indent="0" marL="0">
              <a:lnSpc>
                <a:spcPct val="140000"/>
              </a:lnSpc>
              <a:buNone/>
            </a:pPr>
            <a:r>
              <a:rPr lang="en-US" sz="1200" dirty="0">
                <a:solidFill>
                  <a:srgbClr val="B8C4D4"/>
                </a:solidFill>
                <a:latin typeface="Calibri" pitchFamily="34" charset="0"/>
                <a:ea typeface="Calibri" pitchFamily="34" charset="-122"/>
                <a:cs typeface="Calibri" pitchFamily="34" charset="-120"/>
              </a:rPr>
              <a:t>If you're in sales, here's what I want you to know: the hardest part of selling is already done. We spent 20 years building a reputation that homeowners trust before you ever knock on their door. Lifetime warranty, American-made materials, five-star reviews you can pull up on your phone at the kitchen table.</a:t>
            </a:r>
            <a:endParaRPr lang="en-US" sz="1200" dirty="0"/>
          </a:p>
          <a:p>
            <a:pPr indent="0" marL="0">
              <a:lnSpc>
                <a:spcPct val="140000"/>
              </a:lnSpc>
              <a:buNone/>
            </a:pPr>
            <a:endParaRPr lang="en-US" sz="1200" dirty="0"/>
          </a:p>
          <a:p>
            <a:pPr indent="0" marL="0">
              <a:lnSpc>
                <a:spcPct val="140000"/>
              </a:lnSpc>
              <a:buNone/>
            </a:pPr>
            <a:r>
              <a:rPr lang="en-US" sz="1200" dirty="0">
                <a:solidFill>
                  <a:srgbClr val="B8C4D4"/>
                </a:solidFill>
                <a:latin typeface="Calibri" pitchFamily="34" charset="0"/>
                <a:ea typeface="Calibri" pitchFamily="34" charset="-122"/>
                <a:cs typeface="Calibri" pitchFamily="34" charset="-120"/>
              </a:rPr>
              <a:t>We don't hire people to fill seats. We hire people we want to build something with. You're one of those people — now let's get to work.</a:t>
            </a:r>
            <a:endParaRPr lang="en-US" sz="1200" dirty="0"/>
          </a:p>
        </p:txBody>
      </p:sp>
      <p:sp>
        <p:nvSpPr>
          <p:cNvPr id="7" name="Shape 5"/>
          <p:cNvSpPr/>
          <p:nvPr/>
        </p:nvSpPr>
        <p:spPr>
          <a:xfrm>
            <a:off x="640080" y="5394960"/>
            <a:ext cx="4572000" cy="9144"/>
          </a:xfrm>
          <a:prstGeom prst="rect">
            <a:avLst/>
          </a:prstGeom>
          <a:solidFill>
            <a:srgbClr val="3A5080"/>
          </a:solidFill>
          <a:ln/>
        </p:spPr>
      </p:sp>
      <p:sp>
        <p:nvSpPr>
          <p:cNvPr id="8" name="Text 6"/>
          <p:cNvSpPr/>
          <p:nvPr/>
        </p:nvSpPr>
        <p:spPr>
          <a:xfrm>
            <a:off x="640080" y="5486400"/>
            <a:ext cx="3657600" cy="32004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Luke Payne</a:t>
            </a:r>
            <a:endParaRPr lang="en-US" sz="1600" dirty="0"/>
          </a:p>
        </p:txBody>
      </p:sp>
      <p:sp>
        <p:nvSpPr>
          <p:cNvPr id="9" name="Text 7"/>
          <p:cNvSpPr/>
          <p:nvPr/>
        </p:nvSpPr>
        <p:spPr>
          <a:xfrm>
            <a:off x="640080" y="5806440"/>
            <a:ext cx="4572000" cy="228600"/>
          </a:xfrm>
          <a:prstGeom prst="rect">
            <a:avLst/>
          </a:prstGeom>
          <a:noFill/>
          <a:ln/>
        </p:spPr>
        <p:txBody>
          <a:bodyPr wrap="square" rtlCol="0" anchor="ctr"/>
          <a:lstStyle/>
          <a:p>
            <a:pPr indent="0" marL="0">
              <a:buNone/>
            </a:pPr>
            <a:r>
              <a:rPr lang="en-US" sz="900" dirty="0">
                <a:solidFill>
                  <a:srgbClr val="8898AA"/>
                </a:solidFill>
                <a:latin typeface="Calibri" pitchFamily="34" charset="0"/>
                <a:ea typeface="Calibri" pitchFamily="34" charset="-122"/>
                <a:cs typeface="Calibri" pitchFamily="34" charset="-120"/>
              </a:rPr>
              <a:t>Owner  ·  Complete Custom Fence</a:t>
            </a:r>
            <a:endParaRPr lang="en-US" sz="900" dirty="0"/>
          </a:p>
        </p:txBody>
      </p:sp>
      <p:sp>
        <p:nvSpPr>
          <p:cNvPr id="10" name="Shape 8"/>
          <p:cNvSpPr/>
          <p:nvPr/>
        </p:nvSpPr>
        <p:spPr>
          <a:xfrm>
            <a:off x="8412480" y="731520"/>
            <a:ext cx="3200400" cy="1234440"/>
          </a:xfrm>
          <a:prstGeom prst="rect">
            <a:avLst>
              <a:gd name="adj" fmla="val 5926"/>
            </a:avLst>
          </a:prstGeom>
          <a:solidFill>
            <a:srgbClr val="FFFFFF">
              <a:alpha val="5000"/>
            </a:srgbClr>
          </a:solidFill>
          <a:ln w="3810">
            <a:solidFill>
              <a:srgbClr val="FFFFFF">
                <a:alpha val="15000"/>
              </a:srgbClr>
            </a:solidFill>
            <a:prstDash val="solid"/>
          </a:ln>
        </p:spPr>
      </p:sp>
      <p:sp>
        <p:nvSpPr>
          <p:cNvPr id="11" name="Text 9"/>
          <p:cNvSpPr/>
          <p:nvPr/>
        </p:nvSpPr>
        <p:spPr>
          <a:xfrm>
            <a:off x="8641080" y="868680"/>
            <a:ext cx="2743200" cy="5486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20+</a:t>
            </a:r>
            <a:endParaRPr lang="en-US" sz="3000" dirty="0"/>
          </a:p>
        </p:txBody>
      </p:sp>
      <p:sp>
        <p:nvSpPr>
          <p:cNvPr id="12" name="Text 10"/>
          <p:cNvSpPr/>
          <p:nvPr/>
        </p:nvSpPr>
        <p:spPr>
          <a:xfrm>
            <a:off x="8641080" y="1463040"/>
            <a:ext cx="2743200" cy="365760"/>
          </a:xfrm>
          <a:prstGeom prst="rect">
            <a:avLst/>
          </a:prstGeom>
          <a:noFill/>
          <a:ln/>
        </p:spPr>
        <p:txBody>
          <a:bodyPr wrap="square" rtlCol="0" anchor="ctr"/>
          <a:lstStyle/>
          <a:p>
            <a:pPr indent="0" marL="0">
              <a:buNone/>
            </a:pPr>
            <a:r>
              <a:rPr lang="en-US" sz="1000" dirty="0">
                <a:solidFill>
                  <a:srgbClr val="8898AA"/>
                </a:solidFill>
                <a:latin typeface="Calibri" pitchFamily="34" charset="0"/>
                <a:ea typeface="Calibri" pitchFamily="34" charset="-122"/>
                <a:cs typeface="Calibri" pitchFamily="34" charset="-120"/>
              </a:rPr>
              <a:t>Years serving Central Florida</a:t>
            </a:r>
            <a:endParaRPr lang="en-US" sz="1000" dirty="0"/>
          </a:p>
        </p:txBody>
      </p:sp>
      <p:sp>
        <p:nvSpPr>
          <p:cNvPr id="13" name="Shape 11"/>
          <p:cNvSpPr/>
          <p:nvPr/>
        </p:nvSpPr>
        <p:spPr>
          <a:xfrm>
            <a:off x="8412480" y="2194560"/>
            <a:ext cx="3200400" cy="1234440"/>
          </a:xfrm>
          <a:prstGeom prst="rect">
            <a:avLst>
              <a:gd name="adj" fmla="val 5926"/>
            </a:avLst>
          </a:prstGeom>
          <a:solidFill>
            <a:srgbClr val="FFFFFF">
              <a:alpha val="5000"/>
            </a:srgbClr>
          </a:solidFill>
          <a:ln w="3810">
            <a:solidFill>
              <a:srgbClr val="FFFFFF">
                <a:alpha val="15000"/>
              </a:srgbClr>
            </a:solidFill>
            <a:prstDash val="solid"/>
          </a:ln>
        </p:spPr>
      </p:sp>
      <p:sp>
        <p:nvSpPr>
          <p:cNvPr id="14" name="Text 12"/>
          <p:cNvSpPr/>
          <p:nvPr/>
        </p:nvSpPr>
        <p:spPr>
          <a:xfrm>
            <a:off x="8641080" y="2331720"/>
            <a:ext cx="2743200" cy="5486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50+</a:t>
            </a:r>
            <a:endParaRPr lang="en-US" sz="3000" dirty="0"/>
          </a:p>
        </p:txBody>
      </p:sp>
      <p:sp>
        <p:nvSpPr>
          <p:cNvPr id="15" name="Text 13"/>
          <p:cNvSpPr/>
          <p:nvPr/>
        </p:nvSpPr>
        <p:spPr>
          <a:xfrm>
            <a:off x="8641080" y="2926080"/>
            <a:ext cx="2743200" cy="365760"/>
          </a:xfrm>
          <a:prstGeom prst="rect">
            <a:avLst/>
          </a:prstGeom>
          <a:noFill/>
          <a:ln/>
        </p:spPr>
        <p:txBody>
          <a:bodyPr wrap="square" rtlCol="0" anchor="ctr"/>
          <a:lstStyle/>
          <a:p>
            <a:pPr indent="0" marL="0">
              <a:buNone/>
            </a:pPr>
            <a:r>
              <a:rPr lang="en-US" sz="1000" dirty="0">
                <a:solidFill>
                  <a:srgbClr val="8898AA"/>
                </a:solidFill>
                <a:latin typeface="Calibri" pitchFamily="34" charset="0"/>
                <a:ea typeface="Calibri" pitchFamily="34" charset="-122"/>
                <a:cs typeface="Calibri" pitchFamily="34" charset="-120"/>
              </a:rPr>
              <a:t>Years combined team experience</a:t>
            </a:r>
            <a:endParaRPr lang="en-US" sz="1000" dirty="0"/>
          </a:p>
        </p:txBody>
      </p:sp>
      <p:sp>
        <p:nvSpPr>
          <p:cNvPr id="16" name="Shape 14"/>
          <p:cNvSpPr/>
          <p:nvPr/>
        </p:nvSpPr>
        <p:spPr>
          <a:xfrm>
            <a:off x="8412480" y="3657600"/>
            <a:ext cx="3200400" cy="1234440"/>
          </a:xfrm>
          <a:prstGeom prst="rect">
            <a:avLst>
              <a:gd name="adj" fmla="val 5926"/>
            </a:avLst>
          </a:prstGeom>
          <a:solidFill>
            <a:srgbClr val="FFFFFF">
              <a:alpha val="5000"/>
            </a:srgbClr>
          </a:solidFill>
          <a:ln w="3810">
            <a:solidFill>
              <a:srgbClr val="FFFFFF">
                <a:alpha val="15000"/>
              </a:srgbClr>
            </a:solidFill>
            <a:prstDash val="solid"/>
          </a:ln>
        </p:spPr>
      </p:sp>
      <p:sp>
        <p:nvSpPr>
          <p:cNvPr id="17" name="Text 15"/>
          <p:cNvSpPr/>
          <p:nvPr/>
        </p:nvSpPr>
        <p:spPr>
          <a:xfrm>
            <a:off x="8641080" y="3794760"/>
            <a:ext cx="2743200" cy="5486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100%</a:t>
            </a:r>
            <a:endParaRPr lang="en-US" sz="3000" dirty="0"/>
          </a:p>
        </p:txBody>
      </p:sp>
      <p:sp>
        <p:nvSpPr>
          <p:cNvPr id="18" name="Text 16"/>
          <p:cNvSpPr/>
          <p:nvPr/>
        </p:nvSpPr>
        <p:spPr>
          <a:xfrm>
            <a:off x="8641080" y="4389120"/>
            <a:ext cx="2743200" cy="365760"/>
          </a:xfrm>
          <a:prstGeom prst="rect">
            <a:avLst/>
          </a:prstGeom>
          <a:noFill/>
          <a:ln/>
        </p:spPr>
        <p:txBody>
          <a:bodyPr wrap="square" rtlCol="0" anchor="ctr"/>
          <a:lstStyle/>
          <a:p>
            <a:pPr indent="0" marL="0">
              <a:buNone/>
            </a:pPr>
            <a:r>
              <a:rPr lang="en-US" sz="1000" dirty="0">
                <a:solidFill>
                  <a:srgbClr val="8898AA"/>
                </a:solidFill>
                <a:latin typeface="Calibri" pitchFamily="34" charset="0"/>
                <a:ea typeface="Calibri" pitchFamily="34" charset="-122"/>
                <a:cs typeface="Calibri" pitchFamily="34" charset="-120"/>
              </a:rPr>
              <a:t>American-made materials</a:t>
            </a:r>
            <a:endParaRPr lang="en-US" sz="1000" dirty="0"/>
          </a:p>
        </p:txBody>
      </p:sp>
      <p:sp>
        <p:nvSpPr>
          <p:cNvPr id="19" name="Shape 17"/>
          <p:cNvSpPr/>
          <p:nvPr/>
        </p:nvSpPr>
        <p:spPr>
          <a:xfrm>
            <a:off x="8412480" y="5120640"/>
            <a:ext cx="3200400" cy="1234440"/>
          </a:xfrm>
          <a:prstGeom prst="rect">
            <a:avLst>
              <a:gd name="adj" fmla="val 5926"/>
            </a:avLst>
          </a:prstGeom>
          <a:solidFill>
            <a:srgbClr val="FFFFFF">
              <a:alpha val="5000"/>
            </a:srgbClr>
          </a:solidFill>
          <a:ln w="3810">
            <a:solidFill>
              <a:srgbClr val="FFFFFF">
                <a:alpha val="15000"/>
              </a:srgbClr>
            </a:solidFill>
            <a:prstDash val="solid"/>
          </a:ln>
        </p:spPr>
      </p:sp>
      <p:sp>
        <p:nvSpPr>
          <p:cNvPr id="20" name="Text 18"/>
          <p:cNvSpPr/>
          <p:nvPr/>
        </p:nvSpPr>
        <p:spPr>
          <a:xfrm>
            <a:off x="8641080" y="5257800"/>
            <a:ext cx="2743200" cy="5486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a:t>
            </a:r>
            <a:endParaRPr lang="en-US" sz="3000" dirty="0"/>
          </a:p>
        </p:txBody>
      </p:sp>
      <p:sp>
        <p:nvSpPr>
          <p:cNvPr id="21" name="Text 19"/>
          <p:cNvSpPr/>
          <p:nvPr/>
        </p:nvSpPr>
        <p:spPr>
          <a:xfrm>
            <a:off x="8641080" y="5852160"/>
            <a:ext cx="2743200" cy="365760"/>
          </a:xfrm>
          <a:prstGeom prst="rect">
            <a:avLst/>
          </a:prstGeom>
          <a:noFill/>
          <a:ln/>
        </p:spPr>
        <p:txBody>
          <a:bodyPr wrap="square" rtlCol="0" anchor="ctr"/>
          <a:lstStyle/>
          <a:p>
            <a:pPr indent="0" marL="0">
              <a:buNone/>
            </a:pPr>
            <a:r>
              <a:rPr lang="en-US" sz="1000" dirty="0">
                <a:solidFill>
                  <a:srgbClr val="8898AA"/>
                </a:solidFill>
                <a:latin typeface="Calibri" pitchFamily="34" charset="0"/>
                <a:ea typeface="Calibri" pitchFamily="34" charset="-122"/>
                <a:cs typeface="Calibri" pitchFamily="34" charset="-120"/>
              </a:rPr>
              <a:t>Verified Google &amp; Facebook</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3F8"/>
        </a:solidFill>
      </p:bgPr>
    </p:bg>
    <p:spTree>
      <p:nvGrpSpPr>
        <p:cNvPr id="1" name=""/>
        <p:cNvGrpSpPr/>
        <p:nvPr/>
      </p:nvGrpSpPr>
      <p:grpSpPr>
        <a:xfrm>
          <a:off x="0" y="0"/>
          <a:ext cx="0" cy="0"/>
          <a:chOff x="0" y="0"/>
          <a:chExt cx="0" cy="0"/>
        </a:xfrm>
      </p:grpSpPr>
      <p:sp>
        <p:nvSpPr>
          <p:cNvPr id="2" name="Text 0"/>
          <p:cNvSpPr/>
          <p:nvPr/>
        </p:nvSpPr>
        <p:spPr>
          <a:xfrm>
            <a:off x="457200" y="274320"/>
            <a:ext cx="365760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THIS IS WHAT WE BUILD</a:t>
            </a:r>
            <a:endParaRPr lang="en-US" sz="800" dirty="0"/>
          </a:p>
        </p:txBody>
      </p:sp>
      <p:sp>
        <p:nvSpPr>
          <p:cNvPr id="3" name="Text 1"/>
          <p:cNvSpPr/>
          <p:nvPr/>
        </p:nvSpPr>
        <p:spPr>
          <a:xfrm>
            <a:off x="457200" y="548640"/>
            <a:ext cx="7315200" cy="548640"/>
          </a:xfrm>
          <a:prstGeom prst="rect">
            <a:avLst/>
          </a:prstGeom>
          <a:noFill/>
          <a:ln/>
        </p:spPr>
        <p:txBody>
          <a:bodyPr wrap="square" rtlCol="0" anchor="ctr"/>
          <a:lstStyle/>
          <a:p>
            <a:pPr indent="0" marL="0">
              <a:buNone/>
            </a:pPr>
            <a:r>
              <a:rPr lang="en-US" sz="3200" b="1" dirty="0">
                <a:solidFill>
                  <a:srgbClr val="162234"/>
                </a:solidFill>
                <a:latin typeface="Georgia" pitchFamily="34" charset="0"/>
                <a:ea typeface="Georgia" pitchFamily="34" charset="-122"/>
                <a:cs typeface="Georgia" pitchFamily="34" charset="-120"/>
              </a:rPr>
              <a:t>Real Work. Real Florida Homes.</a:t>
            </a:r>
            <a:endParaRPr lang="en-US" sz="3200" dirty="0"/>
          </a:p>
        </p:txBody>
      </p:sp>
      <p:pic>
        <p:nvPicPr>
          <p:cNvPr id="4" name="Image 0" descr="/tmp/ccf_images/g1.jpg">    </p:cNvPr>
          <p:cNvPicPr>
            <a:picLocks noChangeAspect="1"/>
          </p:cNvPicPr>
          <p:nvPr/>
        </p:nvPicPr>
        <p:blipFill>
          <a:blip r:embed="rId1"/>
          <a:srcRect l="0" r="0" t="0" b="0"/>
          <a:stretch/>
        </p:blipFill>
        <p:spPr>
          <a:xfrm>
            <a:off x="457200" y="1371600"/>
            <a:ext cx="3474720" cy="2286000"/>
          </a:xfrm>
          <a:prstGeom prst="ellipse">
            <a:avLst/>
          </a:prstGeom>
        </p:spPr>
      </p:pic>
      <p:sp>
        <p:nvSpPr>
          <p:cNvPr id="5" name="Shape 2"/>
          <p:cNvSpPr/>
          <p:nvPr/>
        </p:nvSpPr>
        <p:spPr>
          <a:xfrm>
            <a:off x="457200" y="2926080"/>
            <a:ext cx="3474720" cy="731520"/>
          </a:xfrm>
          <a:prstGeom prst="rect">
            <a:avLst/>
          </a:prstGeom>
          <a:solidFill>
            <a:srgbClr val="162234">
              <a:alpha val="80000"/>
            </a:srgbClr>
          </a:solidFill>
          <a:ln/>
        </p:spPr>
      </p:sp>
      <p:sp>
        <p:nvSpPr>
          <p:cNvPr id="6" name="Text 3"/>
          <p:cNvSpPr/>
          <p:nvPr/>
        </p:nvSpPr>
        <p:spPr>
          <a:xfrm>
            <a:off x="594360" y="3017520"/>
            <a:ext cx="3200400" cy="182880"/>
          </a:xfrm>
          <a:prstGeom prst="rect">
            <a:avLst/>
          </a:prstGeom>
          <a:noFill/>
          <a:ln/>
        </p:spPr>
        <p:txBody>
          <a:bodyPr wrap="square" rtlCol="0" anchor="ctr"/>
          <a:lstStyle/>
          <a:p>
            <a:pPr indent="0" marL="0">
              <a:buNone/>
            </a:pPr>
            <a:r>
              <a:rPr lang="en-US" sz="700" spc="150" kern="0" dirty="0">
                <a:solidFill>
                  <a:srgbClr val="FFFFFF"/>
                </a:solidFill>
                <a:latin typeface="Courier New" pitchFamily="34" charset="0"/>
                <a:ea typeface="Courier New" pitchFamily="34" charset="-122"/>
                <a:cs typeface="Courier New" pitchFamily="34" charset="-120"/>
              </a:rPr>
              <a:t>VINYL PRIVACY</a:t>
            </a:r>
            <a:endParaRPr lang="en-US" sz="700" dirty="0"/>
          </a:p>
        </p:txBody>
      </p:sp>
      <p:sp>
        <p:nvSpPr>
          <p:cNvPr id="7" name="Text 4"/>
          <p:cNvSpPr/>
          <p:nvPr/>
        </p:nvSpPr>
        <p:spPr>
          <a:xfrm>
            <a:off x="594360" y="3200400"/>
            <a:ext cx="3200400" cy="320040"/>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Shadow Box Privacy Panel</a:t>
            </a:r>
            <a:endParaRPr lang="en-US" sz="1300" dirty="0"/>
          </a:p>
        </p:txBody>
      </p:sp>
      <p:pic>
        <p:nvPicPr>
          <p:cNvPr id="8" name="Image 1" descr="/tmp/ccf_images/g2.jpg">    </p:cNvPr>
          <p:cNvPicPr>
            <a:picLocks noChangeAspect="1"/>
          </p:cNvPicPr>
          <p:nvPr/>
        </p:nvPicPr>
        <p:blipFill>
          <a:blip r:embed="rId2"/>
          <a:srcRect l="0" r="0" t="0" b="0"/>
          <a:stretch/>
        </p:blipFill>
        <p:spPr>
          <a:xfrm>
            <a:off x="4069080" y="1371600"/>
            <a:ext cx="3474720" cy="2286000"/>
          </a:xfrm>
          <a:prstGeom prst="ellipse">
            <a:avLst/>
          </a:prstGeom>
        </p:spPr>
      </p:pic>
      <p:sp>
        <p:nvSpPr>
          <p:cNvPr id="9" name="Shape 5"/>
          <p:cNvSpPr/>
          <p:nvPr/>
        </p:nvSpPr>
        <p:spPr>
          <a:xfrm>
            <a:off x="4069080" y="2926080"/>
            <a:ext cx="3474720" cy="731520"/>
          </a:xfrm>
          <a:prstGeom prst="rect">
            <a:avLst/>
          </a:prstGeom>
          <a:solidFill>
            <a:srgbClr val="162234">
              <a:alpha val="80000"/>
            </a:srgbClr>
          </a:solidFill>
          <a:ln/>
        </p:spPr>
      </p:sp>
      <p:sp>
        <p:nvSpPr>
          <p:cNvPr id="10" name="Text 6"/>
          <p:cNvSpPr/>
          <p:nvPr/>
        </p:nvSpPr>
        <p:spPr>
          <a:xfrm>
            <a:off x="4206240" y="3017520"/>
            <a:ext cx="3200400" cy="182880"/>
          </a:xfrm>
          <a:prstGeom prst="rect">
            <a:avLst/>
          </a:prstGeom>
          <a:noFill/>
          <a:ln/>
        </p:spPr>
        <p:txBody>
          <a:bodyPr wrap="square" rtlCol="0" anchor="ctr"/>
          <a:lstStyle/>
          <a:p>
            <a:pPr indent="0" marL="0">
              <a:buNone/>
            </a:pPr>
            <a:r>
              <a:rPr lang="en-US" sz="700" spc="150" kern="0" dirty="0">
                <a:solidFill>
                  <a:srgbClr val="FFFFFF"/>
                </a:solidFill>
                <a:latin typeface="Courier New" pitchFamily="34" charset="0"/>
                <a:ea typeface="Courier New" pitchFamily="34" charset="-122"/>
                <a:cs typeface="Courier New" pitchFamily="34" charset="-120"/>
              </a:rPr>
              <a:t>ALUMINUM ORNAMENTAL</a:t>
            </a:r>
            <a:endParaRPr lang="en-US" sz="700" dirty="0"/>
          </a:p>
        </p:txBody>
      </p:sp>
      <p:sp>
        <p:nvSpPr>
          <p:cNvPr id="11" name="Text 7"/>
          <p:cNvSpPr/>
          <p:nvPr/>
        </p:nvSpPr>
        <p:spPr>
          <a:xfrm>
            <a:off x="4206240" y="3200400"/>
            <a:ext cx="3200400" cy="320040"/>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Estate Gate &amp; Perimeter</a:t>
            </a:r>
            <a:endParaRPr lang="en-US" sz="1300" dirty="0"/>
          </a:p>
        </p:txBody>
      </p:sp>
      <p:pic>
        <p:nvPicPr>
          <p:cNvPr id="12" name="Image 2" descr="/tmp/ccf_images/g3.jpg">    </p:cNvPr>
          <p:cNvPicPr>
            <a:picLocks noChangeAspect="1"/>
          </p:cNvPicPr>
          <p:nvPr/>
        </p:nvPicPr>
        <p:blipFill>
          <a:blip r:embed="rId3"/>
          <a:srcRect l="0" r="0" t="0" b="0"/>
          <a:stretch/>
        </p:blipFill>
        <p:spPr>
          <a:xfrm>
            <a:off x="7680960" y="1371600"/>
            <a:ext cx="3474720" cy="2286000"/>
          </a:xfrm>
          <a:prstGeom prst="ellipse">
            <a:avLst/>
          </a:prstGeom>
        </p:spPr>
      </p:pic>
      <p:sp>
        <p:nvSpPr>
          <p:cNvPr id="13" name="Shape 8"/>
          <p:cNvSpPr/>
          <p:nvPr/>
        </p:nvSpPr>
        <p:spPr>
          <a:xfrm>
            <a:off x="7680960" y="2926080"/>
            <a:ext cx="3474720" cy="731520"/>
          </a:xfrm>
          <a:prstGeom prst="rect">
            <a:avLst/>
          </a:prstGeom>
          <a:solidFill>
            <a:srgbClr val="162234">
              <a:alpha val="80000"/>
            </a:srgbClr>
          </a:solidFill>
          <a:ln/>
        </p:spPr>
      </p:sp>
      <p:sp>
        <p:nvSpPr>
          <p:cNvPr id="14" name="Text 9"/>
          <p:cNvSpPr/>
          <p:nvPr/>
        </p:nvSpPr>
        <p:spPr>
          <a:xfrm>
            <a:off x="7818120" y="3017520"/>
            <a:ext cx="3200400" cy="182880"/>
          </a:xfrm>
          <a:prstGeom prst="rect">
            <a:avLst/>
          </a:prstGeom>
          <a:noFill/>
          <a:ln/>
        </p:spPr>
        <p:txBody>
          <a:bodyPr wrap="square" rtlCol="0" anchor="ctr"/>
          <a:lstStyle/>
          <a:p>
            <a:pPr indent="0" marL="0">
              <a:buNone/>
            </a:pPr>
            <a:r>
              <a:rPr lang="en-US" sz="700" spc="150" kern="0" dirty="0">
                <a:solidFill>
                  <a:srgbClr val="FFFFFF"/>
                </a:solidFill>
                <a:latin typeface="Courier New" pitchFamily="34" charset="0"/>
                <a:ea typeface="Courier New" pitchFamily="34" charset="-122"/>
                <a:cs typeface="Courier New" pitchFamily="34" charset="-120"/>
              </a:rPr>
              <a:t>COMMERCIAL ALUMINUM</a:t>
            </a:r>
            <a:endParaRPr lang="en-US" sz="700" dirty="0"/>
          </a:p>
        </p:txBody>
      </p:sp>
      <p:sp>
        <p:nvSpPr>
          <p:cNvPr id="15" name="Text 10"/>
          <p:cNvSpPr/>
          <p:nvPr/>
        </p:nvSpPr>
        <p:spPr>
          <a:xfrm>
            <a:off x="7818120" y="3200400"/>
            <a:ext cx="3200400" cy="320040"/>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Business Perimeter Security</a:t>
            </a:r>
            <a:endParaRPr lang="en-US" sz="1300" dirty="0"/>
          </a:p>
        </p:txBody>
      </p:sp>
      <p:pic>
        <p:nvPicPr>
          <p:cNvPr id="16" name="Image 3" descr="/tmp/ccf_images/g4.jpg">    </p:cNvPr>
          <p:cNvPicPr>
            <a:picLocks noChangeAspect="1"/>
          </p:cNvPicPr>
          <p:nvPr/>
        </p:nvPicPr>
        <p:blipFill>
          <a:blip r:embed="rId4"/>
          <a:srcRect l="0" r="0" t="0" b="0"/>
          <a:stretch/>
        </p:blipFill>
        <p:spPr>
          <a:xfrm>
            <a:off x="457200" y="3794760"/>
            <a:ext cx="3474720" cy="2286000"/>
          </a:xfrm>
          <a:prstGeom prst="ellipse">
            <a:avLst/>
          </a:prstGeom>
        </p:spPr>
      </p:pic>
      <p:sp>
        <p:nvSpPr>
          <p:cNvPr id="17" name="Shape 11"/>
          <p:cNvSpPr/>
          <p:nvPr/>
        </p:nvSpPr>
        <p:spPr>
          <a:xfrm>
            <a:off x="457200" y="5349240"/>
            <a:ext cx="3474720" cy="731520"/>
          </a:xfrm>
          <a:prstGeom prst="rect">
            <a:avLst/>
          </a:prstGeom>
          <a:solidFill>
            <a:srgbClr val="162234">
              <a:alpha val="80000"/>
            </a:srgbClr>
          </a:solidFill>
          <a:ln/>
        </p:spPr>
      </p:sp>
      <p:sp>
        <p:nvSpPr>
          <p:cNvPr id="18" name="Text 12"/>
          <p:cNvSpPr/>
          <p:nvPr/>
        </p:nvSpPr>
        <p:spPr>
          <a:xfrm>
            <a:off x="594360" y="5440680"/>
            <a:ext cx="3200400" cy="182880"/>
          </a:xfrm>
          <a:prstGeom prst="rect">
            <a:avLst/>
          </a:prstGeom>
          <a:noFill/>
          <a:ln/>
        </p:spPr>
        <p:txBody>
          <a:bodyPr wrap="square" rtlCol="0" anchor="ctr"/>
          <a:lstStyle/>
          <a:p>
            <a:pPr indent="0" marL="0">
              <a:buNone/>
            </a:pPr>
            <a:r>
              <a:rPr lang="en-US" sz="700" spc="150" kern="0" dirty="0">
                <a:solidFill>
                  <a:srgbClr val="FFFFFF"/>
                </a:solidFill>
                <a:latin typeface="Courier New" pitchFamily="34" charset="0"/>
                <a:ea typeface="Courier New" pitchFamily="34" charset="-122"/>
                <a:cs typeface="Courier New" pitchFamily="34" charset="-120"/>
              </a:rPr>
              <a:t>CEDAR WOOD</a:t>
            </a:r>
            <a:endParaRPr lang="en-US" sz="700" dirty="0"/>
          </a:p>
        </p:txBody>
      </p:sp>
      <p:sp>
        <p:nvSpPr>
          <p:cNvPr id="19" name="Text 13"/>
          <p:cNvSpPr/>
          <p:nvPr/>
        </p:nvSpPr>
        <p:spPr>
          <a:xfrm>
            <a:off x="594360" y="5623560"/>
            <a:ext cx="3200400" cy="320040"/>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Full Privacy Panel</a:t>
            </a:r>
            <a:endParaRPr lang="en-US" sz="1300" dirty="0"/>
          </a:p>
        </p:txBody>
      </p:sp>
      <p:pic>
        <p:nvPicPr>
          <p:cNvPr id="20" name="Image 4" descr="/tmp/ccf_images/g5.jpg">    </p:cNvPr>
          <p:cNvPicPr>
            <a:picLocks noChangeAspect="1"/>
          </p:cNvPicPr>
          <p:nvPr/>
        </p:nvPicPr>
        <p:blipFill>
          <a:blip r:embed="rId5"/>
          <a:srcRect l="0" r="0" t="0" b="0"/>
          <a:stretch/>
        </p:blipFill>
        <p:spPr>
          <a:xfrm>
            <a:off x="4069080" y="3794760"/>
            <a:ext cx="3474720" cy="2286000"/>
          </a:xfrm>
          <a:prstGeom prst="ellipse">
            <a:avLst/>
          </a:prstGeom>
        </p:spPr>
      </p:pic>
      <p:sp>
        <p:nvSpPr>
          <p:cNvPr id="21" name="Shape 14"/>
          <p:cNvSpPr/>
          <p:nvPr/>
        </p:nvSpPr>
        <p:spPr>
          <a:xfrm>
            <a:off x="4069080" y="5349240"/>
            <a:ext cx="3474720" cy="731520"/>
          </a:xfrm>
          <a:prstGeom prst="rect">
            <a:avLst/>
          </a:prstGeom>
          <a:solidFill>
            <a:srgbClr val="162234">
              <a:alpha val="80000"/>
            </a:srgbClr>
          </a:solidFill>
          <a:ln/>
        </p:spPr>
      </p:sp>
      <p:sp>
        <p:nvSpPr>
          <p:cNvPr id="22" name="Text 15"/>
          <p:cNvSpPr/>
          <p:nvPr/>
        </p:nvSpPr>
        <p:spPr>
          <a:xfrm>
            <a:off x="4206240" y="5440680"/>
            <a:ext cx="3200400" cy="182880"/>
          </a:xfrm>
          <a:prstGeom prst="rect">
            <a:avLst/>
          </a:prstGeom>
          <a:noFill/>
          <a:ln/>
        </p:spPr>
        <p:txBody>
          <a:bodyPr wrap="square" rtlCol="0" anchor="ctr"/>
          <a:lstStyle/>
          <a:p>
            <a:pPr indent="0" marL="0">
              <a:buNone/>
            </a:pPr>
            <a:r>
              <a:rPr lang="en-US" sz="700" spc="150" kern="0" dirty="0">
                <a:solidFill>
                  <a:srgbClr val="FFFFFF"/>
                </a:solidFill>
                <a:latin typeface="Courier New" pitchFamily="34" charset="0"/>
                <a:ea typeface="Courier New" pitchFamily="34" charset="-122"/>
                <a:cs typeface="Courier New" pitchFamily="34" charset="-120"/>
              </a:rPr>
              <a:t>VINYL PRIVACY</a:t>
            </a:r>
            <a:endParaRPr lang="en-US" sz="700" dirty="0"/>
          </a:p>
        </p:txBody>
      </p:sp>
      <p:sp>
        <p:nvSpPr>
          <p:cNvPr id="23" name="Text 16"/>
          <p:cNvSpPr/>
          <p:nvPr/>
        </p:nvSpPr>
        <p:spPr>
          <a:xfrm>
            <a:off x="4206240" y="5623560"/>
            <a:ext cx="3200400" cy="320040"/>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Closed Top Panel System</a:t>
            </a:r>
            <a:endParaRPr lang="en-US" sz="1300" dirty="0"/>
          </a:p>
        </p:txBody>
      </p:sp>
      <p:pic>
        <p:nvPicPr>
          <p:cNvPr id="24" name="Image 5" descr="/tmp/ccf_images/g6.jpg">    </p:cNvPr>
          <p:cNvPicPr>
            <a:picLocks noChangeAspect="1"/>
          </p:cNvPicPr>
          <p:nvPr/>
        </p:nvPicPr>
        <p:blipFill>
          <a:blip r:embed="rId6"/>
          <a:srcRect l="0" r="0" t="0" b="0"/>
          <a:stretch/>
        </p:blipFill>
        <p:spPr>
          <a:xfrm>
            <a:off x="7680960" y="3794760"/>
            <a:ext cx="3474720" cy="2286000"/>
          </a:xfrm>
          <a:prstGeom prst="ellipse">
            <a:avLst/>
          </a:prstGeom>
        </p:spPr>
      </p:pic>
      <p:sp>
        <p:nvSpPr>
          <p:cNvPr id="25" name="Shape 17"/>
          <p:cNvSpPr/>
          <p:nvPr/>
        </p:nvSpPr>
        <p:spPr>
          <a:xfrm>
            <a:off x="7680960" y="5349240"/>
            <a:ext cx="3474720" cy="731520"/>
          </a:xfrm>
          <a:prstGeom prst="rect">
            <a:avLst/>
          </a:prstGeom>
          <a:solidFill>
            <a:srgbClr val="162234">
              <a:alpha val="80000"/>
            </a:srgbClr>
          </a:solidFill>
          <a:ln/>
        </p:spPr>
      </p:sp>
      <p:sp>
        <p:nvSpPr>
          <p:cNvPr id="26" name="Text 18"/>
          <p:cNvSpPr/>
          <p:nvPr/>
        </p:nvSpPr>
        <p:spPr>
          <a:xfrm>
            <a:off x="7818120" y="5440680"/>
            <a:ext cx="3200400" cy="182880"/>
          </a:xfrm>
          <a:prstGeom prst="rect">
            <a:avLst/>
          </a:prstGeom>
          <a:noFill/>
          <a:ln/>
        </p:spPr>
        <p:txBody>
          <a:bodyPr wrap="square" rtlCol="0" anchor="ctr"/>
          <a:lstStyle/>
          <a:p>
            <a:pPr indent="0" marL="0">
              <a:buNone/>
            </a:pPr>
            <a:r>
              <a:rPr lang="en-US" sz="700" spc="150" kern="0" dirty="0">
                <a:solidFill>
                  <a:srgbClr val="FFFFFF"/>
                </a:solidFill>
                <a:latin typeface="Courier New" pitchFamily="34" charset="0"/>
                <a:ea typeface="Courier New" pitchFamily="34" charset="-122"/>
                <a:cs typeface="Courier New" pitchFamily="34" charset="-120"/>
              </a:rPr>
              <a:t>VINYL SCALLOP PICKET</a:t>
            </a:r>
            <a:endParaRPr lang="en-US" sz="700" dirty="0"/>
          </a:p>
        </p:txBody>
      </p:sp>
      <p:sp>
        <p:nvSpPr>
          <p:cNvPr id="27" name="Text 19"/>
          <p:cNvSpPr/>
          <p:nvPr/>
        </p:nvSpPr>
        <p:spPr>
          <a:xfrm>
            <a:off x="7818120" y="5623560"/>
            <a:ext cx="3200400" cy="320040"/>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Front Yard Curb Appeal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234"/>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BF1120"/>
          </a:solidFill>
          <a:ln/>
        </p:spPr>
      </p:sp>
      <p:sp>
        <p:nvSpPr>
          <p:cNvPr id="3" name="Text 1"/>
          <p:cNvSpPr/>
          <p:nvPr/>
        </p:nvSpPr>
        <p:spPr>
          <a:xfrm>
            <a:off x="457200" y="365760"/>
            <a:ext cx="3657600" cy="228600"/>
          </a:xfrm>
          <a:prstGeom prst="rect">
            <a:avLst/>
          </a:prstGeom>
          <a:noFill/>
          <a:ln/>
        </p:spPr>
        <p:txBody>
          <a:bodyPr wrap="square" rtlCol="0" anchor="ctr"/>
          <a:lstStyle/>
          <a:p>
            <a:pPr indent="0" marL="0">
              <a:buNone/>
            </a:pPr>
            <a:r>
              <a:rPr lang="en-US" sz="800" spc="200" kern="0" dirty="0">
                <a:solidFill>
                  <a:srgbClr val="8898AA"/>
                </a:solidFill>
                <a:latin typeface="Courier New" pitchFamily="34" charset="0"/>
                <a:ea typeface="Courier New" pitchFamily="34" charset="-122"/>
                <a:cs typeface="Courier New" pitchFamily="34" charset="-120"/>
              </a:rPr>
              <a:t>WHAT HOMEOWNERS SAY</a:t>
            </a:r>
            <a:endParaRPr lang="en-US" sz="800" dirty="0"/>
          </a:p>
        </p:txBody>
      </p:sp>
      <p:sp>
        <p:nvSpPr>
          <p:cNvPr id="4" name="Text 2"/>
          <p:cNvSpPr/>
          <p:nvPr/>
        </p:nvSpPr>
        <p:spPr>
          <a:xfrm>
            <a:off x="457200" y="685800"/>
            <a:ext cx="7315200" cy="45720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Real Customers. Real Results.</a:t>
            </a:r>
            <a:endParaRPr lang="en-US" sz="2800" dirty="0"/>
          </a:p>
        </p:txBody>
      </p:sp>
      <p:sp>
        <p:nvSpPr>
          <p:cNvPr id="5" name="Text 3"/>
          <p:cNvSpPr/>
          <p:nvPr/>
        </p:nvSpPr>
        <p:spPr>
          <a:xfrm>
            <a:off x="457200" y="1143000"/>
            <a:ext cx="2743200" cy="365760"/>
          </a:xfrm>
          <a:prstGeom prst="rect">
            <a:avLst/>
          </a:prstGeom>
          <a:noFill/>
          <a:ln/>
        </p:spPr>
        <p:txBody>
          <a:bodyPr wrap="square" rtlCol="0" anchor="ctr"/>
          <a:lstStyle/>
          <a:p>
            <a:pPr indent="0" marL="0">
              <a:buNone/>
            </a:pPr>
            <a:r>
              <a:rPr lang="en-US" sz="1600" dirty="0">
                <a:solidFill>
                  <a:srgbClr val="C9A535"/>
                </a:solidFill>
                <a:latin typeface="Calibri" pitchFamily="34" charset="0"/>
                <a:ea typeface="Calibri" pitchFamily="34" charset="-122"/>
                <a:cs typeface="Calibri" pitchFamily="34" charset="-120"/>
              </a:rPr>
              <a:t>★★★★★</a:t>
            </a:r>
            <a:endParaRPr lang="en-US" sz="1600" dirty="0"/>
          </a:p>
        </p:txBody>
      </p:sp>
      <p:sp>
        <p:nvSpPr>
          <p:cNvPr id="6" name="Shape 4"/>
          <p:cNvSpPr/>
          <p:nvPr/>
        </p:nvSpPr>
        <p:spPr>
          <a:xfrm>
            <a:off x="457200" y="1828800"/>
            <a:ext cx="2697480" cy="3657600"/>
          </a:xfrm>
          <a:prstGeom prst="roundRect">
            <a:avLst>
              <a:gd name="adj" fmla="val 3390"/>
            </a:avLst>
          </a:prstGeom>
          <a:solidFill>
            <a:srgbClr val="FFFFFF">
              <a:alpha val="4000"/>
            </a:srgbClr>
          </a:solidFill>
          <a:ln w="3810">
            <a:solidFill>
              <a:srgbClr val="FFFFFF">
                <a:alpha val="10000"/>
              </a:srgbClr>
            </a:solidFill>
            <a:prstDash val="solid"/>
          </a:ln>
        </p:spPr>
      </p:sp>
      <p:sp>
        <p:nvSpPr>
          <p:cNvPr id="7" name="Text 5"/>
          <p:cNvSpPr/>
          <p:nvPr/>
        </p:nvSpPr>
        <p:spPr>
          <a:xfrm>
            <a:off x="640080" y="2011680"/>
            <a:ext cx="1828800" cy="274320"/>
          </a:xfrm>
          <a:prstGeom prst="rect">
            <a:avLst/>
          </a:prstGeom>
          <a:noFill/>
          <a:ln/>
        </p:spPr>
        <p:txBody>
          <a:bodyPr wrap="square" rtlCol="0" anchor="ctr"/>
          <a:lstStyle/>
          <a:p>
            <a:pPr indent="0" marL="0">
              <a:buNone/>
            </a:pPr>
            <a:r>
              <a:rPr lang="en-US" sz="1100" dirty="0">
                <a:solidFill>
                  <a:srgbClr val="C9A535"/>
                </a:solidFill>
                <a:latin typeface="Calibri" pitchFamily="34" charset="0"/>
                <a:ea typeface="Calibri" pitchFamily="34" charset="-122"/>
                <a:cs typeface="Calibri" pitchFamily="34" charset="-120"/>
              </a:rPr>
              <a:t>★★★★★</a:t>
            </a:r>
            <a:endParaRPr lang="en-US" sz="1100" dirty="0"/>
          </a:p>
        </p:txBody>
      </p:sp>
      <p:sp>
        <p:nvSpPr>
          <p:cNvPr id="8" name="Text 6"/>
          <p:cNvSpPr/>
          <p:nvPr/>
        </p:nvSpPr>
        <p:spPr>
          <a:xfrm>
            <a:off x="640080" y="2377440"/>
            <a:ext cx="2331720" cy="2377440"/>
          </a:xfrm>
          <a:prstGeom prst="rect">
            <a:avLst/>
          </a:prstGeom>
          <a:noFill/>
          <a:ln/>
        </p:spPr>
        <p:txBody>
          <a:bodyPr wrap="square" rtlCol="0" anchor="ctr"/>
          <a:lstStyle/>
          <a:p>
            <a:pPr indent="0" marL="0">
              <a:lnSpc>
                <a:spcPct val="145000"/>
              </a:lnSpc>
              <a:buNone/>
            </a:pPr>
            <a:r>
              <a:rPr lang="en-US" sz="1100" i="1" dirty="0">
                <a:solidFill>
                  <a:srgbClr val="C8D2E0"/>
                </a:solidFill>
                <a:latin typeface="Georgia" pitchFamily="34" charset="0"/>
                <a:ea typeface="Georgia" pitchFamily="34" charset="-122"/>
                <a:cs typeface="Georgia" pitchFamily="34" charset="-120"/>
              </a:rPr>
              <a:t>"They are prompt on getting the permit, the Groveland office was great in keeping me informed of everything and the guys that did the job couldn't have been nicer. They did a fantastic job."</a:t>
            </a:r>
            <a:endParaRPr lang="en-US" sz="1100" dirty="0"/>
          </a:p>
        </p:txBody>
      </p:sp>
      <p:sp>
        <p:nvSpPr>
          <p:cNvPr id="9" name="Text 7"/>
          <p:cNvSpPr/>
          <p:nvPr/>
        </p:nvSpPr>
        <p:spPr>
          <a:xfrm>
            <a:off x="640080" y="4846320"/>
            <a:ext cx="2331720" cy="22860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Jose Vega</a:t>
            </a:r>
            <a:endParaRPr lang="en-US" sz="1000" dirty="0"/>
          </a:p>
        </p:txBody>
      </p:sp>
      <p:sp>
        <p:nvSpPr>
          <p:cNvPr id="10" name="Text 8"/>
          <p:cNvSpPr/>
          <p:nvPr/>
        </p:nvSpPr>
        <p:spPr>
          <a:xfrm>
            <a:off x="640080" y="5074920"/>
            <a:ext cx="2331720" cy="182880"/>
          </a:xfrm>
          <a:prstGeom prst="rect">
            <a:avLst/>
          </a:prstGeom>
          <a:noFill/>
          <a:ln/>
        </p:spPr>
        <p:txBody>
          <a:bodyPr wrap="square" rtlCol="0" anchor="ctr"/>
          <a:lstStyle/>
          <a:p>
            <a:pPr indent="0" marL="0">
              <a:buNone/>
            </a:pPr>
            <a:r>
              <a:rPr lang="en-US" sz="700" spc="100" kern="0" dirty="0">
                <a:solidFill>
                  <a:srgbClr val="6A7A8A"/>
                </a:solidFill>
                <a:latin typeface="Courier New" pitchFamily="34" charset="0"/>
                <a:ea typeface="Courier New" pitchFamily="34" charset="-122"/>
                <a:cs typeface="Courier New" pitchFamily="34" charset="-120"/>
              </a:rPr>
              <a:t>Verified Google Review</a:t>
            </a:r>
            <a:endParaRPr lang="en-US" sz="700" dirty="0"/>
          </a:p>
        </p:txBody>
      </p:sp>
      <p:sp>
        <p:nvSpPr>
          <p:cNvPr id="11" name="Shape 9"/>
          <p:cNvSpPr/>
          <p:nvPr/>
        </p:nvSpPr>
        <p:spPr>
          <a:xfrm>
            <a:off x="3291840" y="1828800"/>
            <a:ext cx="2697480" cy="3657600"/>
          </a:xfrm>
          <a:prstGeom prst="roundRect">
            <a:avLst>
              <a:gd name="adj" fmla="val 3390"/>
            </a:avLst>
          </a:prstGeom>
          <a:solidFill>
            <a:srgbClr val="FFFFFF">
              <a:alpha val="4000"/>
            </a:srgbClr>
          </a:solidFill>
          <a:ln w="3810">
            <a:solidFill>
              <a:srgbClr val="FFFFFF">
                <a:alpha val="10000"/>
              </a:srgbClr>
            </a:solidFill>
            <a:prstDash val="solid"/>
          </a:ln>
        </p:spPr>
      </p:sp>
      <p:sp>
        <p:nvSpPr>
          <p:cNvPr id="12" name="Text 10"/>
          <p:cNvSpPr/>
          <p:nvPr/>
        </p:nvSpPr>
        <p:spPr>
          <a:xfrm>
            <a:off x="3474720" y="2011680"/>
            <a:ext cx="1828800" cy="274320"/>
          </a:xfrm>
          <a:prstGeom prst="rect">
            <a:avLst/>
          </a:prstGeom>
          <a:noFill/>
          <a:ln/>
        </p:spPr>
        <p:txBody>
          <a:bodyPr wrap="square" rtlCol="0" anchor="ctr"/>
          <a:lstStyle/>
          <a:p>
            <a:pPr indent="0" marL="0">
              <a:buNone/>
            </a:pPr>
            <a:r>
              <a:rPr lang="en-US" sz="1100" dirty="0">
                <a:solidFill>
                  <a:srgbClr val="C9A535"/>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3474720" y="2377440"/>
            <a:ext cx="2331720" cy="2377440"/>
          </a:xfrm>
          <a:prstGeom prst="rect">
            <a:avLst/>
          </a:prstGeom>
          <a:noFill/>
          <a:ln/>
        </p:spPr>
        <p:txBody>
          <a:bodyPr wrap="square" rtlCol="0" anchor="ctr"/>
          <a:lstStyle/>
          <a:p>
            <a:pPr indent="0" marL="0">
              <a:lnSpc>
                <a:spcPct val="145000"/>
              </a:lnSpc>
              <a:buNone/>
            </a:pPr>
            <a:r>
              <a:rPr lang="en-US" sz="1100" i="1" dirty="0">
                <a:solidFill>
                  <a:srgbClr val="C8D2E0"/>
                </a:solidFill>
                <a:latin typeface="Georgia" pitchFamily="34" charset="0"/>
                <a:ea typeface="Georgia" pitchFamily="34" charset="-122"/>
                <a:cs typeface="Georgia" pitchFamily="34" charset="-120"/>
              </a:rPr>
              <a:t>"Complete Custom Fence was professional until the end. They were extremely flexible with what I wanted. Fantastic customer service and extremely quick fence install!"</a:t>
            </a:r>
            <a:endParaRPr lang="en-US" sz="1100" dirty="0"/>
          </a:p>
        </p:txBody>
      </p:sp>
      <p:sp>
        <p:nvSpPr>
          <p:cNvPr id="14" name="Text 12"/>
          <p:cNvSpPr/>
          <p:nvPr/>
        </p:nvSpPr>
        <p:spPr>
          <a:xfrm>
            <a:off x="3474720" y="4846320"/>
            <a:ext cx="2331720" cy="22860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Max Hitzemann</a:t>
            </a:r>
            <a:endParaRPr lang="en-US" sz="1000" dirty="0"/>
          </a:p>
        </p:txBody>
      </p:sp>
      <p:sp>
        <p:nvSpPr>
          <p:cNvPr id="15" name="Text 13"/>
          <p:cNvSpPr/>
          <p:nvPr/>
        </p:nvSpPr>
        <p:spPr>
          <a:xfrm>
            <a:off x="3474720" y="5074920"/>
            <a:ext cx="2331720" cy="182880"/>
          </a:xfrm>
          <a:prstGeom prst="rect">
            <a:avLst/>
          </a:prstGeom>
          <a:noFill/>
          <a:ln/>
        </p:spPr>
        <p:txBody>
          <a:bodyPr wrap="square" rtlCol="0" anchor="ctr"/>
          <a:lstStyle/>
          <a:p>
            <a:pPr indent="0" marL="0">
              <a:buNone/>
            </a:pPr>
            <a:r>
              <a:rPr lang="en-US" sz="700" spc="100" kern="0" dirty="0">
                <a:solidFill>
                  <a:srgbClr val="6A7A8A"/>
                </a:solidFill>
                <a:latin typeface="Courier New" pitchFamily="34" charset="0"/>
                <a:ea typeface="Courier New" pitchFamily="34" charset="-122"/>
                <a:cs typeface="Courier New" pitchFamily="34" charset="-120"/>
              </a:rPr>
              <a:t>Verified Google Review</a:t>
            </a:r>
            <a:endParaRPr lang="en-US" sz="700" dirty="0"/>
          </a:p>
        </p:txBody>
      </p:sp>
      <p:sp>
        <p:nvSpPr>
          <p:cNvPr id="16" name="Shape 14"/>
          <p:cNvSpPr/>
          <p:nvPr/>
        </p:nvSpPr>
        <p:spPr>
          <a:xfrm>
            <a:off x="6126480" y="1828800"/>
            <a:ext cx="2697480" cy="3657600"/>
          </a:xfrm>
          <a:prstGeom prst="roundRect">
            <a:avLst>
              <a:gd name="adj" fmla="val 3390"/>
            </a:avLst>
          </a:prstGeom>
          <a:solidFill>
            <a:srgbClr val="FFFFFF">
              <a:alpha val="4000"/>
            </a:srgbClr>
          </a:solidFill>
          <a:ln w="3810">
            <a:solidFill>
              <a:srgbClr val="FFFFFF">
                <a:alpha val="10000"/>
              </a:srgbClr>
            </a:solidFill>
            <a:prstDash val="solid"/>
          </a:ln>
        </p:spPr>
      </p:sp>
      <p:sp>
        <p:nvSpPr>
          <p:cNvPr id="17" name="Text 15"/>
          <p:cNvSpPr/>
          <p:nvPr/>
        </p:nvSpPr>
        <p:spPr>
          <a:xfrm>
            <a:off x="6309360" y="2011680"/>
            <a:ext cx="1828800" cy="274320"/>
          </a:xfrm>
          <a:prstGeom prst="rect">
            <a:avLst/>
          </a:prstGeom>
          <a:noFill/>
          <a:ln/>
        </p:spPr>
        <p:txBody>
          <a:bodyPr wrap="square" rtlCol="0" anchor="ctr"/>
          <a:lstStyle/>
          <a:p>
            <a:pPr indent="0" marL="0">
              <a:buNone/>
            </a:pPr>
            <a:r>
              <a:rPr lang="en-US" sz="1100" dirty="0">
                <a:solidFill>
                  <a:srgbClr val="C9A535"/>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6309360" y="2377440"/>
            <a:ext cx="2331720" cy="2377440"/>
          </a:xfrm>
          <a:prstGeom prst="rect">
            <a:avLst/>
          </a:prstGeom>
          <a:noFill/>
          <a:ln/>
        </p:spPr>
        <p:txBody>
          <a:bodyPr wrap="square" rtlCol="0" anchor="ctr"/>
          <a:lstStyle/>
          <a:p>
            <a:pPr indent="0" marL="0">
              <a:lnSpc>
                <a:spcPct val="145000"/>
              </a:lnSpc>
              <a:buNone/>
            </a:pPr>
            <a:r>
              <a:rPr lang="en-US" sz="1100" i="1" dirty="0">
                <a:solidFill>
                  <a:srgbClr val="C8D2E0"/>
                </a:solidFill>
                <a:latin typeface="Georgia" pitchFamily="34" charset="0"/>
                <a:ea typeface="Georgia" pitchFamily="34" charset="-122"/>
                <a:cs typeface="Georgia" pitchFamily="34" charset="-120"/>
              </a:rPr>
              <a:t>"Submitted a request and within 5 minutes I received a call from a very polite lady. This is a company I'd want to do business with — from the very first phone call there was a connection."</a:t>
            </a:r>
            <a:endParaRPr lang="en-US" sz="1100" dirty="0"/>
          </a:p>
        </p:txBody>
      </p:sp>
      <p:sp>
        <p:nvSpPr>
          <p:cNvPr id="19" name="Text 17"/>
          <p:cNvSpPr/>
          <p:nvPr/>
        </p:nvSpPr>
        <p:spPr>
          <a:xfrm>
            <a:off x="6309360" y="4846320"/>
            <a:ext cx="2331720" cy="22860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Robert Williams</a:t>
            </a:r>
            <a:endParaRPr lang="en-US" sz="1000" dirty="0"/>
          </a:p>
        </p:txBody>
      </p:sp>
      <p:sp>
        <p:nvSpPr>
          <p:cNvPr id="20" name="Text 18"/>
          <p:cNvSpPr/>
          <p:nvPr/>
        </p:nvSpPr>
        <p:spPr>
          <a:xfrm>
            <a:off x="6309360" y="5074920"/>
            <a:ext cx="2331720" cy="182880"/>
          </a:xfrm>
          <a:prstGeom prst="rect">
            <a:avLst/>
          </a:prstGeom>
          <a:noFill/>
          <a:ln/>
        </p:spPr>
        <p:txBody>
          <a:bodyPr wrap="square" rtlCol="0" anchor="ctr"/>
          <a:lstStyle/>
          <a:p>
            <a:pPr indent="0" marL="0">
              <a:buNone/>
            </a:pPr>
            <a:r>
              <a:rPr lang="en-US" sz="700" spc="100" kern="0" dirty="0">
                <a:solidFill>
                  <a:srgbClr val="6A7A8A"/>
                </a:solidFill>
                <a:latin typeface="Courier New" pitchFamily="34" charset="0"/>
                <a:ea typeface="Courier New" pitchFamily="34" charset="-122"/>
                <a:cs typeface="Courier New" pitchFamily="34" charset="-120"/>
              </a:rPr>
              <a:t>Verified Google Review</a:t>
            </a:r>
            <a:endParaRPr lang="en-US" sz="700" dirty="0"/>
          </a:p>
        </p:txBody>
      </p:sp>
      <p:sp>
        <p:nvSpPr>
          <p:cNvPr id="21" name="Shape 19"/>
          <p:cNvSpPr/>
          <p:nvPr/>
        </p:nvSpPr>
        <p:spPr>
          <a:xfrm>
            <a:off x="8961120" y="1828800"/>
            <a:ext cx="2697480" cy="3657600"/>
          </a:xfrm>
          <a:prstGeom prst="roundRect">
            <a:avLst>
              <a:gd name="adj" fmla="val 3390"/>
            </a:avLst>
          </a:prstGeom>
          <a:solidFill>
            <a:srgbClr val="FFFFFF">
              <a:alpha val="4000"/>
            </a:srgbClr>
          </a:solidFill>
          <a:ln w="3810">
            <a:solidFill>
              <a:srgbClr val="FFFFFF">
                <a:alpha val="10000"/>
              </a:srgbClr>
            </a:solidFill>
            <a:prstDash val="solid"/>
          </a:ln>
        </p:spPr>
      </p:sp>
      <p:sp>
        <p:nvSpPr>
          <p:cNvPr id="22" name="Text 20"/>
          <p:cNvSpPr/>
          <p:nvPr/>
        </p:nvSpPr>
        <p:spPr>
          <a:xfrm>
            <a:off x="9144000" y="2011680"/>
            <a:ext cx="1828800" cy="274320"/>
          </a:xfrm>
          <a:prstGeom prst="rect">
            <a:avLst/>
          </a:prstGeom>
          <a:noFill/>
          <a:ln/>
        </p:spPr>
        <p:txBody>
          <a:bodyPr wrap="square" rtlCol="0" anchor="ctr"/>
          <a:lstStyle/>
          <a:p>
            <a:pPr indent="0" marL="0">
              <a:buNone/>
            </a:pPr>
            <a:r>
              <a:rPr lang="en-US" sz="1100" dirty="0">
                <a:solidFill>
                  <a:srgbClr val="C9A535"/>
                </a:solidFill>
                <a:latin typeface="Calibri" pitchFamily="34" charset="0"/>
                <a:ea typeface="Calibri" pitchFamily="34" charset="-122"/>
                <a:cs typeface="Calibri" pitchFamily="34" charset="-120"/>
              </a:rPr>
              <a:t>★★★★★</a:t>
            </a:r>
            <a:endParaRPr lang="en-US" sz="1100" dirty="0"/>
          </a:p>
        </p:txBody>
      </p:sp>
      <p:sp>
        <p:nvSpPr>
          <p:cNvPr id="23" name="Text 21"/>
          <p:cNvSpPr/>
          <p:nvPr/>
        </p:nvSpPr>
        <p:spPr>
          <a:xfrm>
            <a:off x="9144000" y="2377440"/>
            <a:ext cx="2331720" cy="2377440"/>
          </a:xfrm>
          <a:prstGeom prst="rect">
            <a:avLst/>
          </a:prstGeom>
          <a:noFill/>
          <a:ln/>
        </p:spPr>
        <p:txBody>
          <a:bodyPr wrap="square" rtlCol="0" anchor="ctr"/>
          <a:lstStyle/>
          <a:p>
            <a:pPr indent="0" marL="0">
              <a:lnSpc>
                <a:spcPct val="145000"/>
              </a:lnSpc>
              <a:buNone/>
            </a:pPr>
            <a:r>
              <a:rPr lang="en-US" sz="1100" i="1" dirty="0">
                <a:solidFill>
                  <a:srgbClr val="C8D2E0"/>
                </a:solidFill>
                <a:latin typeface="Georgia" pitchFamily="34" charset="0"/>
                <a:ea typeface="Georgia" pitchFamily="34" charset="-122"/>
                <a:cs typeface="Georgia" pitchFamily="34" charset="-120"/>
              </a:rPr>
              <a:t>"George was very responsive, never felt pressured. The customer service was great. Thanks for the reasonable quote and great quality product!"</a:t>
            </a:r>
            <a:endParaRPr lang="en-US" sz="1100" dirty="0"/>
          </a:p>
        </p:txBody>
      </p:sp>
      <p:sp>
        <p:nvSpPr>
          <p:cNvPr id="24" name="Text 22"/>
          <p:cNvSpPr/>
          <p:nvPr/>
        </p:nvSpPr>
        <p:spPr>
          <a:xfrm>
            <a:off x="9144000" y="4846320"/>
            <a:ext cx="2331720" cy="22860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Jonatan Portillo</a:t>
            </a:r>
            <a:endParaRPr lang="en-US" sz="1000" dirty="0"/>
          </a:p>
        </p:txBody>
      </p:sp>
      <p:sp>
        <p:nvSpPr>
          <p:cNvPr id="25" name="Text 23"/>
          <p:cNvSpPr/>
          <p:nvPr/>
        </p:nvSpPr>
        <p:spPr>
          <a:xfrm>
            <a:off x="9144000" y="5074920"/>
            <a:ext cx="2331720" cy="182880"/>
          </a:xfrm>
          <a:prstGeom prst="rect">
            <a:avLst/>
          </a:prstGeom>
          <a:noFill/>
          <a:ln/>
        </p:spPr>
        <p:txBody>
          <a:bodyPr wrap="square" rtlCol="0" anchor="ctr"/>
          <a:lstStyle/>
          <a:p>
            <a:pPr indent="0" marL="0">
              <a:buNone/>
            </a:pPr>
            <a:r>
              <a:rPr lang="en-US" sz="700" spc="100" kern="0" dirty="0">
                <a:solidFill>
                  <a:srgbClr val="6A7A8A"/>
                </a:solidFill>
                <a:latin typeface="Courier New" pitchFamily="34" charset="0"/>
                <a:ea typeface="Courier New" pitchFamily="34" charset="-122"/>
                <a:cs typeface="Courier New" pitchFamily="34" charset="-120"/>
              </a:rPr>
              <a:t>Verified Google Review</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1B2A3B"/>
          </a:solidFill>
          <a:ln/>
        </p:spPr>
      </p:sp>
      <p:sp>
        <p:nvSpPr>
          <p:cNvPr id="3" name="Shape 1"/>
          <p:cNvSpPr/>
          <p:nvPr/>
        </p:nvSpPr>
        <p:spPr>
          <a:xfrm>
            <a:off x="0" y="0"/>
            <a:ext cx="12192000" cy="54864"/>
          </a:xfrm>
          <a:prstGeom prst="rect">
            <a:avLst/>
          </a:prstGeom>
          <a:solidFill>
            <a:srgbClr val="BF1120"/>
          </a:solidFill>
          <a:ln/>
        </p:spPr>
      </p:sp>
      <p:sp>
        <p:nvSpPr>
          <p:cNvPr id="4" name="Text 2"/>
          <p:cNvSpPr/>
          <p:nvPr/>
        </p:nvSpPr>
        <p:spPr>
          <a:xfrm>
            <a:off x="457200" y="2286000"/>
            <a:ext cx="3657600" cy="228600"/>
          </a:xfrm>
          <a:prstGeom prst="rect">
            <a:avLst/>
          </a:prstGeom>
          <a:noFill/>
          <a:ln/>
        </p:spPr>
        <p:txBody>
          <a:bodyPr wrap="square" rtlCol="0" anchor="ctr"/>
          <a:lstStyle/>
          <a:p>
            <a:pPr indent="0" marL="0">
              <a:buNone/>
            </a:pPr>
            <a:r>
              <a:rPr lang="en-US" sz="800" spc="200" kern="0" dirty="0">
                <a:solidFill>
                  <a:srgbClr val="8898AA"/>
                </a:solidFill>
                <a:latin typeface="Courier New" pitchFamily="34" charset="0"/>
                <a:ea typeface="Courier New" pitchFamily="34" charset="-122"/>
                <a:cs typeface="Courier New" pitchFamily="34" charset="-120"/>
              </a:rPr>
              <a:t>✦  PROMISE</a:t>
            </a:r>
            <a:endParaRPr lang="en-US" sz="800" dirty="0"/>
          </a:p>
        </p:txBody>
      </p:sp>
      <p:sp>
        <p:nvSpPr>
          <p:cNvPr id="5" name="Text 3"/>
          <p:cNvSpPr/>
          <p:nvPr/>
        </p:nvSpPr>
        <p:spPr>
          <a:xfrm>
            <a:off x="457200" y="2743200"/>
            <a:ext cx="2926080" cy="1280160"/>
          </a:xfrm>
          <a:prstGeom prst="rect">
            <a:avLst/>
          </a:prstGeom>
          <a:noFill/>
          <a:ln/>
        </p:spPr>
        <p:txBody>
          <a:bodyPr wrap="square" rtlCol="0" anchor="ctr"/>
          <a:lstStyle/>
          <a:p>
            <a:pPr indent="0" marL="0">
              <a:lnSpc>
                <a:spcPct val="100000"/>
              </a:lnSpc>
              <a:buNone/>
            </a:pPr>
            <a:r>
              <a:rPr lang="en-US" sz="3400" b="1" dirty="0">
                <a:solidFill>
                  <a:srgbClr val="FFFFFF"/>
                </a:solidFill>
                <a:latin typeface="Georgia" pitchFamily="34" charset="0"/>
                <a:ea typeface="Georgia" pitchFamily="34" charset="-122"/>
                <a:cs typeface="Georgia" pitchFamily="34" charset="-120"/>
              </a:rPr>
              <a:t>CCF's Promise</a:t>
            </a:r>
            <a:endParaRPr lang="en-US" sz="3400" dirty="0"/>
          </a:p>
          <a:p>
            <a:pPr indent="0" marL="0">
              <a:lnSpc>
                <a:spcPct val="100000"/>
              </a:lnSpc>
              <a:buNone/>
            </a:pPr>
            <a:r>
              <a:rPr lang="en-US" sz="3400" b="1" dirty="0">
                <a:solidFill>
                  <a:srgbClr val="FFFFFF"/>
                </a:solidFill>
                <a:latin typeface="Georgia" pitchFamily="34" charset="0"/>
                <a:ea typeface="Georgia" pitchFamily="34" charset="-122"/>
                <a:cs typeface="Georgia" pitchFamily="34" charset="-120"/>
              </a:rPr>
              <a:t>to You</a:t>
            </a:r>
            <a:endParaRPr lang="en-US" sz="3400" dirty="0"/>
          </a:p>
        </p:txBody>
      </p:sp>
      <p:sp>
        <p:nvSpPr>
          <p:cNvPr id="6" name="Text 4"/>
          <p:cNvSpPr/>
          <p:nvPr/>
        </p:nvSpPr>
        <p:spPr>
          <a:xfrm>
            <a:off x="457200" y="4114800"/>
            <a:ext cx="2743200" cy="731520"/>
          </a:xfrm>
          <a:prstGeom prst="rect">
            <a:avLst/>
          </a:prstGeom>
          <a:noFill/>
          <a:ln/>
        </p:spPr>
        <p:txBody>
          <a:bodyPr wrap="square" rtlCol="0" anchor="ctr"/>
          <a:lstStyle/>
          <a:p>
            <a:pPr indent="0" marL="0">
              <a:lnSpc>
                <a:spcPct val="130000"/>
              </a:lnSpc>
              <a:buNone/>
            </a:pPr>
            <a:r>
              <a:rPr lang="en-US" sz="1100" i="1" dirty="0">
                <a:solidFill>
                  <a:srgbClr val="8898AA"/>
                </a:solidFill>
                <a:latin typeface="Calibri" pitchFamily="34" charset="0"/>
                <a:ea typeface="Calibri" pitchFamily="34" charset="-122"/>
                <a:cs typeface="Calibri" pitchFamily="34" charset="-120"/>
              </a:rPr>
              <a:t>Before we ask anything of you, here is what we commit to as your employer.</a:t>
            </a:r>
            <a:endParaRPr lang="en-US" sz="1100" dirty="0"/>
          </a:p>
        </p:txBody>
      </p:sp>
      <p:sp>
        <p:nvSpPr>
          <p:cNvPr id="7" name="Shape 5"/>
          <p:cNvSpPr/>
          <p:nvPr/>
        </p:nvSpPr>
        <p:spPr>
          <a:xfrm>
            <a:off x="4114800" y="457200"/>
            <a:ext cx="3840480" cy="1371600"/>
          </a:xfrm>
          <a:prstGeom prst="roundRect">
            <a:avLst>
              <a:gd name="adj" fmla="val 5333"/>
            </a:avLst>
          </a:prstGeom>
          <a:solidFill>
            <a:srgbClr val="EEF3F8"/>
          </a:solidFill>
          <a:ln w="6350">
            <a:solidFill>
              <a:srgbClr val="D8DCE4"/>
            </a:solidFill>
            <a:prstDash val="solid"/>
          </a:ln>
        </p:spPr>
      </p:sp>
      <p:sp>
        <p:nvSpPr>
          <p:cNvPr id="8" name="Text 6"/>
          <p:cNvSpPr/>
          <p:nvPr/>
        </p:nvSpPr>
        <p:spPr>
          <a:xfrm>
            <a:off x="4297680" y="640080"/>
            <a:ext cx="3474720" cy="36576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You'll Know Where You Stand</a:t>
            </a:r>
            <a:endParaRPr lang="en-US" sz="1400" dirty="0"/>
          </a:p>
        </p:txBody>
      </p:sp>
      <p:sp>
        <p:nvSpPr>
          <p:cNvPr id="9" name="Text 7"/>
          <p:cNvSpPr/>
          <p:nvPr/>
        </p:nvSpPr>
        <p:spPr>
          <a:xfrm>
            <a:off x="4297680" y="1051560"/>
            <a:ext cx="3474720" cy="640080"/>
          </a:xfrm>
          <a:prstGeom prst="rect">
            <a:avLst/>
          </a:prstGeom>
          <a:noFill/>
          <a:ln/>
        </p:spPr>
        <p:txBody>
          <a:bodyPr wrap="square" rtlCol="0" anchor="ctr"/>
          <a:lstStyle/>
          <a:p>
            <a:pPr indent="0" marL="0">
              <a:lnSpc>
                <a:spcPct val="130000"/>
              </a:lnSpc>
              <a:buNone/>
            </a:pPr>
            <a:r>
              <a:rPr lang="en-US" sz="1000" dirty="0">
                <a:solidFill>
                  <a:srgbClr val="5E6A7A"/>
                </a:solidFill>
                <a:latin typeface="Calibri" pitchFamily="34" charset="0"/>
                <a:ea typeface="Calibri" pitchFamily="34" charset="-122"/>
                <a:cs typeface="Calibri" pitchFamily="34" charset="-120"/>
              </a:rPr>
              <a:t>Clear expectations, direct feedback, 30/60/90-day reviews on schedule.</a:t>
            </a:r>
            <a:endParaRPr lang="en-US" sz="1000" dirty="0"/>
          </a:p>
        </p:txBody>
      </p:sp>
      <p:sp>
        <p:nvSpPr>
          <p:cNvPr id="10" name="Shape 8"/>
          <p:cNvSpPr/>
          <p:nvPr/>
        </p:nvSpPr>
        <p:spPr>
          <a:xfrm>
            <a:off x="8092440" y="457200"/>
            <a:ext cx="3840480" cy="1371600"/>
          </a:xfrm>
          <a:prstGeom prst="roundRect">
            <a:avLst>
              <a:gd name="adj" fmla="val 5333"/>
            </a:avLst>
          </a:prstGeom>
          <a:solidFill>
            <a:srgbClr val="EEF3F8"/>
          </a:solidFill>
          <a:ln w="6350">
            <a:solidFill>
              <a:srgbClr val="D8DCE4"/>
            </a:solidFill>
            <a:prstDash val="solid"/>
          </a:ln>
        </p:spPr>
      </p:sp>
      <p:sp>
        <p:nvSpPr>
          <p:cNvPr id="11" name="Text 9"/>
          <p:cNvSpPr/>
          <p:nvPr/>
        </p:nvSpPr>
        <p:spPr>
          <a:xfrm>
            <a:off x="8275320" y="640080"/>
            <a:ext cx="3474720" cy="36576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Growth Is Real Here</a:t>
            </a:r>
            <a:endParaRPr lang="en-US" sz="1400" dirty="0"/>
          </a:p>
        </p:txBody>
      </p:sp>
      <p:sp>
        <p:nvSpPr>
          <p:cNvPr id="12" name="Text 10"/>
          <p:cNvSpPr/>
          <p:nvPr/>
        </p:nvSpPr>
        <p:spPr>
          <a:xfrm>
            <a:off x="8275320" y="1051560"/>
            <a:ext cx="3474720" cy="640080"/>
          </a:xfrm>
          <a:prstGeom prst="rect">
            <a:avLst/>
          </a:prstGeom>
          <a:noFill/>
          <a:ln/>
        </p:spPr>
        <p:txBody>
          <a:bodyPr wrap="square" rtlCol="0" anchor="ctr"/>
          <a:lstStyle/>
          <a:p>
            <a:pPr indent="0" marL="0">
              <a:lnSpc>
                <a:spcPct val="130000"/>
              </a:lnSpc>
              <a:buNone/>
            </a:pPr>
            <a:r>
              <a:rPr lang="en-US" sz="1000" dirty="0">
                <a:solidFill>
                  <a:srgbClr val="5E6A7A"/>
                </a:solidFill>
                <a:latin typeface="Calibri" pitchFamily="34" charset="0"/>
                <a:ea typeface="Calibri" pitchFamily="34" charset="-122"/>
                <a:cs typeface="Calibri" pitchFamily="34" charset="-120"/>
              </a:rPr>
              <a:t>Crew leads come from within. High performers get compensated.</a:t>
            </a:r>
            <a:endParaRPr lang="en-US" sz="1000" dirty="0"/>
          </a:p>
        </p:txBody>
      </p:sp>
      <p:sp>
        <p:nvSpPr>
          <p:cNvPr id="13" name="Shape 11"/>
          <p:cNvSpPr/>
          <p:nvPr/>
        </p:nvSpPr>
        <p:spPr>
          <a:xfrm>
            <a:off x="4114800" y="1965960"/>
            <a:ext cx="3840480" cy="1371600"/>
          </a:xfrm>
          <a:prstGeom prst="roundRect">
            <a:avLst>
              <a:gd name="adj" fmla="val 5333"/>
            </a:avLst>
          </a:prstGeom>
          <a:solidFill>
            <a:srgbClr val="EEF3F8"/>
          </a:solidFill>
          <a:ln w="6350">
            <a:solidFill>
              <a:srgbClr val="D8DCE4"/>
            </a:solidFill>
            <a:prstDash val="solid"/>
          </a:ln>
        </p:spPr>
      </p:sp>
      <p:sp>
        <p:nvSpPr>
          <p:cNvPr id="14" name="Text 12"/>
          <p:cNvSpPr/>
          <p:nvPr/>
        </p:nvSpPr>
        <p:spPr>
          <a:xfrm>
            <a:off x="4297680" y="2148840"/>
            <a:ext cx="3474720" cy="36576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We Back Our Team</a:t>
            </a:r>
            <a:endParaRPr lang="en-US" sz="1400" dirty="0"/>
          </a:p>
        </p:txBody>
      </p:sp>
      <p:sp>
        <p:nvSpPr>
          <p:cNvPr id="15" name="Text 13"/>
          <p:cNvSpPr/>
          <p:nvPr/>
        </p:nvSpPr>
        <p:spPr>
          <a:xfrm>
            <a:off x="4297680" y="2560320"/>
            <a:ext cx="3474720" cy="640080"/>
          </a:xfrm>
          <a:prstGeom prst="rect">
            <a:avLst/>
          </a:prstGeom>
          <a:noFill/>
          <a:ln/>
        </p:spPr>
        <p:txBody>
          <a:bodyPr wrap="square" rtlCol="0" anchor="ctr"/>
          <a:lstStyle/>
          <a:p>
            <a:pPr indent="0" marL="0">
              <a:lnSpc>
                <a:spcPct val="130000"/>
              </a:lnSpc>
              <a:buNone/>
            </a:pPr>
            <a:r>
              <a:rPr lang="en-US" sz="1000" dirty="0">
                <a:solidFill>
                  <a:srgbClr val="5E6A7A"/>
                </a:solidFill>
                <a:latin typeface="Calibri" pitchFamily="34" charset="0"/>
                <a:ea typeface="Calibri" pitchFamily="34" charset="-122"/>
                <a:cs typeface="Calibri" pitchFamily="34" charset="-120"/>
              </a:rPr>
              <a:t>Difficult customers? Office handles it. Safety stops the job.</a:t>
            </a:r>
            <a:endParaRPr lang="en-US" sz="1000" dirty="0"/>
          </a:p>
        </p:txBody>
      </p:sp>
      <p:sp>
        <p:nvSpPr>
          <p:cNvPr id="16" name="Shape 14"/>
          <p:cNvSpPr/>
          <p:nvPr/>
        </p:nvSpPr>
        <p:spPr>
          <a:xfrm>
            <a:off x="8092440" y="1965960"/>
            <a:ext cx="3840480" cy="1371600"/>
          </a:xfrm>
          <a:prstGeom prst="roundRect">
            <a:avLst>
              <a:gd name="adj" fmla="val 5333"/>
            </a:avLst>
          </a:prstGeom>
          <a:solidFill>
            <a:srgbClr val="EEF3F8"/>
          </a:solidFill>
          <a:ln w="6350">
            <a:solidFill>
              <a:srgbClr val="D8DCE4"/>
            </a:solidFill>
            <a:prstDash val="solid"/>
          </a:ln>
        </p:spPr>
      </p:sp>
      <p:sp>
        <p:nvSpPr>
          <p:cNvPr id="17" name="Text 15"/>
          <p:cNvSpPr/>
          <p:nvPr/>
        </p:nvSpPr>
        <p:spPr>
          <a:xfrm>
            <a:off x="8275320" y="2148840"/>
            <a:ext cx="3474720" cy="36576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You're Not a Number</a:t>
            </a:r>
            <a:endParaRPr lang="en-US" sz="1400" dirty="0"/>
          </a:p>
        </p:txBody>
      </p:sp>
      <p:sp>
        <p:nvSpPr>
          <p:cNvPr id="18" name="Text 16"/>
          <p:cNvSpPr/>
          <p:nvPr/>
        </p:nvSpPr>
        <p:spPr>
          <a:xfrm>
            <a:off x="8275320" y="2560320"/>
            <a:ext cx="3474720" cy="640080"/>
          </a:xfrm>
          <a:prstGeom prst="rect">
            <a:avLst/>
          </a:prstGeom>
          <a:noFill/>
          <a:ln/>
        </p:spPr>
        <p:txBody>
          <a:bodyPr wrap="square" rtlCol="0" anchor="ctr"/>
          <a:lstStyle/>
          <a:p>
            <a:pPr indent="0" marL="0">
              <a:lnSpc>
                <a:spcPct val="130000"/>
              </a:lnSpc>
              <a:buNone/>
            </a:pPr>
            <a:r>
              <a:rPr lang="en-US" sz="1000" dirty="0">
                <a:solidFill>
                  <a:srgbClr val="5E6A7A"/>
                </a:solidFill>
                <a:latin typeface="Calibri" pitchFamily="34" charset="0"/>
                <a:ea typeface="Calibri" pitchFamily="34" charset="-122"/>
                <a:cs typeface="Calibri" pitchFamily="34" charset="-120"/>
              </a:rPr>
              <a:t>Family-owned. Leadership knows your name and your work.</a:t>
            </a:r>
            <a:endParaRPr lang="en-US" sz="1000" dirty="0"/>
          </a:p>
        </p:txBody>
      </p:sp>
      <p:sp>
        <p:nvSpPr>
          <p:cNvPr id="19" name="Shape 17"/>
          <p:cNvSpPr/>
          <p:nvPr/>
        </p:nvSpPr>
        <p:spPr>
          <a:xfrm>
            <a:off x="4114800" y="3474720"/>
            <a:ext cx="3840480" cy="1371600"/>
          </a:xfrm>
          <a:prstGeom prst="roundRect">
            <a:avLst>
              <a:gd name="adj" fmla="val 5333"/>
            </a:avLst>
          </a:prstGeom>
          <a:solidFill>
            <a:srgbClr val="EEF3F8"/>
          </a:solidFill>
          <a:ln w="6350">
            <a:solidFill>
              <a:srgbClr val="D8DCE4"/>
            </a:solidFill>
            <a:prstDash val="solid"/>
          </a:ln>
        </p:spPr>
      </p:sp>
      <p:sp>
        <p:nvSpPr>
          <p:cNvPr id="20" name="Text 18"/>
          <p:cNvSpPr/>
          <p:nvPr/>
        </p:nvSpPr>
        <p:spPr>
          <a:xfrm>
            <a:off x="4297680" y="3657600"/>
            <a:ext cx="3474720" cy="36576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You'll Have What You Need</a:t>
            </a:r>
            <a:endParaRPr lang="en-US" sz="1400" dirty="0"/>
          </a:p>
        </p:txBody>
      </p:sp>
      <p:sp>
        <p:nvSpPr>
          <p:cNvPr id="21" name="Text 19"/>
          <p:cNvSpPr/>
          <p:nvPr/>
        </p:nvSpPr>
        <p:spPr>
          <a:xfrm>
            <a:off x="4297680" y="4069080"/>
            <a:ext cx="3474720" cy="640080"/>
          </a:xfrm>
          <a:prstGeom prst="rect">
            <a:avLst/>
          </a:prstGeom>
          <a:noFill/>
          <a:ln/>
        </p:spPr>
        <p:txBody>
          <a:bodyPr wrap="square" rtlCol="0" anchor="ctr"/>
          <a:lstStyle/>
          <a:p>
            <a:pPr indent="0" marL="0">
              <a:lnSpc>
                <a:spcPct val="130000"/>
              </a:lnSpc>
              <a:buNone/>
            </a:pPr>
            <a:r>
              <a:rPr lang="en-US" sz="1000" dirty="0">
                <a:solidFill>
                  <a:srgbClr val="5E6A7A"/>
                </a:solidFill>
                <a:latin typeface="Calibri" pitchFamily="34" charset="0"/>
                <a:ea typeface="Calibri" pitchFamily="34" charset="-122"/>
                <a:cs typeface="Calibri" pitchFamily="34" charset="-120"/>
              </a:rPr>
              <a:t>Proper equipment. Clear processes. Tools and systems.</a:t>
            </a:r>
            <a:endParaRPr lang="en-US" sz="1000" dirty="0"/>
          </a:p>
        </p:txBody>
      </p:sp>
      <p:sp>
        <p:nvSpPr>
          <p:cNvPr id="22" name="Shape 20"/>
          <p:cNvSpPr/>
          <p:nvPr/>
        </p:nvSpPr>
        <p:spPr>
          <a:xfrm>
            <a:off x="8092440" y="3474720"/>
            <a:ext cx="3840480" cy="1371600"/>
          </a:xfrm>
          <a:prstGeom prst="roundRect">
            <a:avLst>
              <a:gd name="adj" fmla="val 5333"/>
            </a:avLst>
          </a:prstGeom>
          <a:solidFill>
            <a:srgbClr val="EEF3F8"/>
          </a:solidFill>
          <a:ln w="6350">
            <a:solidFill>
              <a:srgbClr val="D8DCE4"/>
            </a:solidFill>
            <a:prstDash val="solid"/>
          </a:ln>
        </p:spPr>
      </p:sp>
      <p:sp>
        <p:nvSpPr>
          <p:cNvPr id="23" name="Text 21"/>
          <p:cNvSpPr/>
          <p:nvPr/>
        </p:nvSpPr>
        <p:spPr>
          <a:xfrm>
            <a:off x="8275320" y="3657600"/>
            <a:ext cx="3474720" cy="36576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Proud of the Work</a:t>
            </a:r>
            <a:endParaRPr lang="en-US" sz="1400" dirty="0"/>
          </a:p>
        </p:txBody>
      </p:sp>
      <p:sp>
        <p:nvSpPr>
          <p:cNvPr id="24" name="Text 22"/>
          <p:cNvSpPr/>
          <p:nvPr/>
        </p:nvSpPr>
        <p:spPr>
          <a:xfrm>
            <a:off x="8275320" y="4069080"/>
            <a:ext cx="3474720" cy="640080"/>
          </a:xfrm>
          <a:prstGeom prst="rect">
            <a:avLst/>
          </a:prstGeom>
          <a:noFill/>
          <a:ln/>
        </p:spPr>
        <p:txBody>
          <a:bodyPr wrap="square" rtlCol="0" anchor="ctr"/>
          <a:lstStyle/>
          <a:p>
            <a:pPr indent="0" marL="0">
              <a:lnSpc>
                <a:spcPct val="130000"/>
              </a:lnSpc>
              <a:buNone/>
            </a:pPr>
            <a:r>
              <a:rPr lang="en-US" sz="1000" dirty="0">
                <a:solidFill>
                  <a:srgbClr val="5E6A7A"/>
                </a:solidFill>
                <a:latin typeface="Calibri" pitchFamily="34" charset="0"/>
                <a:ea typeface="Calibri" pitchFamily="34" charset="-122"/>
                <a:cs typeface="Calibri" pitchFamily="34" charset="-120"/>
              </a:rPr>
              <a:t>Lifetime warranty. 100% American materials. The standard.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BF1120"/>
          </a:solidFill>
          <a:ln/>
        </p:spPr>
      </p:sp>
      <p:sp>
        <p:nvSpPr>
          <p:cNvPr id="3" name="Text 1"/>
          <p:cNvSpPr/>
          <p:nvPr/>
        </p:nvSpPr>
        <p:spPr>
          <a:xfrm>
            <a:off x="457200" y="274320"/>
            <a:ext cx="365760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04  ROLE &amp; EXPECTATIONS</a:t>
            </a:r>
            <a:endParaRPr lang="en-US" sz="800" dirty="0"/>
          </a:p>
        </p:txBody>
      </p:sp>
      <p:sp>
        <p:nvSpPr>
          <p:cNvPr id="4" name="Text 2"/>
          <p:cNvSpPr/>
          <p:nvPr/>
        </p:nvSpPr>
        <p:spPr>
          <a:xfrm>
            <a:off x="457200" y="548640"/>
            <a:ext cx="7315200" cy="457200"/>
          </a:xfrm>
          <a:prstGeom prst="rect">
            <a:avLst/>
          </a:prstGeom>
          <a:noFill/>
          <a:ln/>
        </p:spPr>
        <p:txBody>
          <a:bodyPr wrap="square" rtlCol="0" anchor="ctr"/>
          <a:lstStyle/>
          <a:p>
            <a:pPr indent="0" marL="0">
              <a:buNone/>
            </a:pPr>
            <a:r>
              <a:rPr lang="en-US" sz="2800" b="1" dirty="0">
                <a:solidFill>
                  <a:srgbClr val="162234"/>
                </a:solidFill>
                <a:latin typeface="Georgia" pitchFamily="34" charset="0"/>
                <a:ea typeface="Georgia" pitchFamily="34" charset="-122"/>
                <a:cs typeface="Georgia" pitchFamily="34" charset="-120"/>
              </a:rPr>
              <a:t>Your Role &amp; Expectations</a:t>
            </a:r>
            <a:endParaRPr lang="en-US" sz="2800" dirty="0"/>
          </a:p>
        </p:txBody>
      </p:sp>
      <p:sp>
        <p:nvSpPr>
          <p:cNvPr id="5" name="Shape 3"/>
          <p:cNvSpPr/>
          <p:nvPr/>
        </p:nvSpPr>
        <p:spPr>
          <a:xfrm>
            <a:off x="457200" y="1188720"/>
            <a:ext cx="11247120" cy="320040"/>
          </a:xfrm>
          <a:prstGeom prst="rect">
            <a:avLst/>
          </a:prstGeom>
          <a:solidFill>
            <a:srgbClr val="1B2A3B"/>
          </a:solidFill>
          <a:ln/>
        </p:spPr>
      </p:sp>
      <p:sp>
        <p:nvSpPr>
          <p:cNvPr id="6" name="Text 4"/>
          <p:cNvSpPr/>
          <p:nvPr/>
        </p:nvSpPr>
        <p:spPr>
          <a:xfrm>
            <a:off x="594360" y="1188720"/>
            <a:ext cx="2286000" cy="320040"/>
          </a:xfrm>
          <a:prstGeom prst="rect">
            <a:avLst/>
          </a:prstGeom>
          <a:noFill/>
          <a:ln/>
        </p:spPr>
        <p:txBody>
          <a:bodyPr wrap="square" rtlCol="0" anchor="ctr"/>
          <a:lstStyle/>
          <a:p>
            <a:pPr indent="0" marL="0">
              <a:buNone/>
            </a:pPr>
            <a:r>
              <a:rPr lang="en-US" sz="800" spc="200" kern="0" dirty="0">
                <a:solidFill>
                  <a:srgbClr val="FFFFFF"/>
                </a:solidFill>
                <a:latin typeface="Courier New" pitchFamily="34" charset="0"/>
                <a:ea typeface="Courier New" pitchFamily="34" charset="-122"/>
                <a:cs typeface="Courier New" pitchFamily="34" charset="-120"/>
              </a:rPr>
              <a:t>CATEGORY</a:t>
            </a:r>
            <a:endParaRPr lang="en-US" sz="800" dirty="0"/>
          </a:p>
        </p:txBody>
      </p:sp>
      <p:sp>
        <p:nvSpPr>
          <p:cNvPr id="7" name="Text 5"/>
          <p:cNvSpPr/>
          <p:nvPr/>
        </p:nvSpPr>
        <p:spPr>
          <a:xfrm>
            <a:off x="3017520" y="1188720"/>
            <a:ext cx="8503920" cy="320040"/>
          </a:xfrm>
          <a:prstGeom prst="rect">
            <a:avLst/>
          </a:prstGeom>
          <a:noFill/>
          <a:ln/>
        </p:spPr>
        <p:txBody>
          <a:bodyPr wrap="square" rtlCol="0" anchor="ctr"/>
          <a:lstStyle/>
          <a:p>
            <a:pPr indent="0" marL="0">
              <a:buNone/>
            </a:pPr>
            <a:r>
              <a:rPr lang="en-US" sz="800" spc="200" kern="0" dirty="0">
                <a:solidFill>
                  <a:srgbClr val="FFFFFF"/>
                </a:solidFill>
                <a:latin typeface="Courier New" pitchFamily="34" charset="0"/>
                <a:ea typeface="Courier New" pitchFamily="34" charset="-122"/>
                <a:cs typeface="Courier New" pitchFamily="34" charset="-120"/>
              </a:rPr>
              <a:t>DETAILS</a:t>
            </a:r>
            <a:endParaRPr lang="en-US" sz="800" dirty="0"/>
          </a:p>
        </p:txBody>
      </p:sp>
      <p:sp>
        <p:nvSpPr>
          <p:cNvPr id="8" name="Shape 6"/>
          <p:cNvSpPr/>
          <p:nvPr/>
        </p:nvSpPr>
        <p:spPr>
          <a:xfrm>
            <a:off x="457200" y="1508760"/>
            <a:ext cx="11247120" cy="548640"/>
          </a:xfrm>
          <a:prstGeom prst="rect">
            <a:avLst/>
          </a:prstGeom>
          <a:solidFill>
            <a:srgbClr val="F7F8FA"/>
          </a:solidFill>
          <a:ln w="3810">
            <a:solidFill>
              <a:srgbClr val="D8DCE4"/>
            </a:solidFill>
            <a:prstDash val="solid"/>
          </a:ln>
        </p:spPr>
      </p:sp>
      <p:sp>
        <p:nvSpPr>
          <p:cNvPr id="9" name="Text 7"/>
          <p:cNvSpPr/>
          <p:nvPr/>
        </p:nvSpPr>
        <p:spPr>
          <a:xfrm>
            <a:off x="594360" y="1508760"/>
            <a:ext cx="2286000" cy="548640"/>
          </a:xfrm>
          <a:prstGeom prst="rect">
            <a:avLst/>
          </a:prstGeom>
          <a:noFill/>
          <a:ln/>
        </p:spPr>
        <p:txBody>
          <a:bodyPr wrap="square" rtlCol="0" anchor="ctr"/>
          <a:lstStyle/>
          <a:p>
            <a:pPr indent="0" marL="0">
              <a:buNone/>
            </a:pPr>
            <a:r>
              <a:rPr lang="en-US" sz="1000" b="1" dirty="0">
                <a:solidFill>
                  <a:srgbClr val="162234"/>
                </a:solidFill>
                <a:latin typeface="Calibri" pitchFamily="34" charset="0"/>
                <a:ea typeface="Calibri" pitchFamily="34" charset="-122"/>
                <a:cs typeface="Calibri" pitchFamily="34" charset="-120"/>
              </a:rPr>
              <a:t>Daily Responsibilities</a:t>
            </a:r>
            <a:endParaRPr lang="en-US" sz="1000" dirty="0"/>
          </a:p>
        </p:txBody>
      </p:sp>
      <p:sp>
        <p:nvSpPr>
          <p:cNvPr id="10" name="Text 8"/>
          <p:cNvSpPr/>
          <p:nvPr/>
        </p:nvSpPr>
        <p:spPr>
          <a:xfrm>
            <a:off x="3017520" y="1508760"/>
            <a:ext cx="8503920" cy="548640"/>
          </a:xfrm>
          <a:prstGeom prst="rect">
            <a:avLst/>
          </a:prstGeom>
          <a:noFill/>
          <a:ln/>
        </p:spPr>
        <p:txBody>
          <a:bodyPr wrap="square" rtlCol="0" anchor="ctr"/>
          <a:lstStyle/>
          <a:p>
            <a:pPr indent="0" marL="0">
              <a:lnSpc>
                <a:spcPct val="120000"/>
              </a:lnSpc>
              <a:buNone/>
            </a:pPr>
            <a:r>
              <a:rPr lang="en-US" sz="1000" dirty="0">
                <a:solidFill>
                  <a:srgbClr val="5E6A7A"/>
                </a:solidFill>
                <a:latin typeface="Calibri" pitchFamily="34" charset="0"/>
                <a:ea typeface="Calibri" pitchFamily="34" charset="-122"/>
                <a:cs typeface="Calibri" pitchFamily="34" charset="-120"/>
              </a:rPr>
              <a:t>Fence installation, measuring, material handling, photo documentation in Company Cam every job.</a:t>
            </a:r>
            <a:endParaRPr lang="en-US" sz="1000" dirty="0"/>
          </a:p>
        </p:txBody>
      </p:sp>
      <p:sp>
        <p:nvSpPr>
          <p:cNvPr id="11" name="Shape 9"/>
          <p:cNvSpPr/>
          <p:nvPr/>
        </p:nvSpPr>
        <p:spPr>
          <a:xfrm>
            <a:off x="457200" y="2057400"/>
            <a:ext cx="11247120" cy="548640"/>
          </a:xfrm>
          <a:prstGeom prst="rect">
            <a:avLst/>
          </a:prstGeom>
          <a:solidFill>
            <a:srgbClr val="FFFFFF"/>
          </a:solidFill>
          <a:ln w="3810">
            <a:solidFill>
              <a:srgbClr val="D8DCE4"/>
            </a:solidFill>
            <a:prstDash val="solid"/>
          </a:ln>
        </p:spPr>
      </p:sp>
      <p:sp>
        <p:nvSpPr>
          <p:cNvPr id="12" name="Text 10"/>
          <p:cNvSpPr/>
          <p:nvPr/>
        </p:nvSpPr>
        <p:spPr>
          <a:xfrm>
            <a:off x="594360" y="2057400"/>
            <a:ext cx="2286000" cy="548640"/>
          </a:xfrm>
          <a:prstGeom prst="rect">
            <a:avLst/>
          </a:prstGeom>
          <a:noFill/>
          <a:ln/>
        </p:spPr>
        <p:txBody>
          <a:bodyPr wrap="square" rtlCol="0" anchor="ctr"/>
          <a:lstStyle/>
          <a:p>
            <a:pPr indent="0" marL="0">
              <a:buNone/>
            </a:pPr>
            <a:r>
              <a:rPr lang="en-US" sz="1000" b="1" dirty="0">
                <a:solidFill>
                  <a:srgbClr val="162234"/>
                </a:solidFill>
                <a:latin typeface="Calibri" pitchFamily="34" charset="0"/>
                <a:ea typeface="Calibri" pitchFamily="34" charset="-122"/>
                <a:cs typeface="Calibri" pitchFamily="34" charset="-120"/>
              </a:rPr>
              <a:t>Physical Requirements</a:t>
            </a:r>
            <a:endParaRPr lang="en-US" sz="1000" dirty="0"/>
          </a:p>
        </p:txBody>
      </p:sp>
      <p:sp>
        <p:nvSpPr>
          <p:cNvPr id="13" name="Text 11"/>
          <p:cNvSpPr/>
          <p:nvPr/>
        </p:nvSpPr>
        <p:spPr>
          <a:xfrm>
            <a:off x="3017520" y="2057400"/>
            <a:ext cx="8503920" cy="548640"/>
          </a:xfrm>
          <a:prstGeom prst="rect">
            <a:avLst/>
          </a:prstGeom>
          <a:noFill/>
          <a:ln/>
        </p:spPr>
        <p:txBody>
          <a:bodyPr wrap="square" rtlCol="0" anchor="ctr"/>
          <a:lstStyle/>
          <a:p>
            <a:pPr indent="0" marL="0">
              <a:lnSpc>
                <a:spcPct val="120000"/>
              </a:lnSpc>
              <a:buNone/>
            </a:pPr>
            <a:r>
              <a:rPr lang="en-US" sz="1000" dirty="0">
                <a:solidFill>
                  <a:srgbClr val="5E6A7A"/>
                </a:solidFill>
                <a:latin typeface="Calibri" pitchFamily="34" charset="0"/>
                <a:ea typeface="Calibri" pitchFamily="34" charset="-122"/>
                <a:cs typeface="Calibri" pitchFamily="34" charset="-120"/>
              </a:rPr>
              <a:t>Lifting 60+ lbs. Extended outdoor work in all Florida weather. Uneven terrain is standard.</a:t>
            </a:r>
            <a:endParaRPr lang="en-US" sz="1000" dirty="0"/>
          </a:p>
        </p:txBody>
      </p:sp>
      <p:sp>
        <p:nvSpPr>
          <p:cNvPr id="14" name="Shape 12"/>
          <p:cNvSpPr/>
          <p:nvPr/>
        </p:nvSpPr>
        <p:spPr>
          <a:xfrm>
            <a:off x="457200" y="2606040"/>
            <a:ext cx="11247120" cy="548640"/>
          </a:xfrm>
          <a:prstGeom prst="rect">
            <a:avLst/>
          </a:prstGeom>
          <a:solidFill>
            <a:srgbClr val="F7F8FA"/>
          </a:solidFill>
          <a:ln w="3810">
            <a:solidFill>
              <a:srgbClr val="D8DCE4"/>
            </a:solidFill>
            <a:prstDash val="solid"/>
          </a:ln>
        </p:spPr>
      </p:sp>
      <p:sp>
        <p:nvSpPr>
          <p:cNvPr id="15" name="Text 13"/>
          <p:cNvSpPr/>
          <p:nvPr/>
        </p:nvSpPr>
        <p:spPr>
          <a:xfrm>
            <a:off x="594360" y="2606040"/>
            <a:ext cx="2286000" cy="548640"/>
          </a:xfrm>
          <a:prstGeom prst="rect">
            <a:avLst/>
          </a:prstGeom>
          <a:noFill/>
          <a:ln/>
        </p:spPr>
        <p:txBody>
          <a:bodyPr wrap="square" rtlCol="0" anchor="ctr"/>
          <a:lstStyle/>
          <a:p>
            <a:pPr indent="0" marL="0">
              <a:buNone/>
            </a:pPr>
            <a:r>
              <a:rPr lang="en-US" sz="1000" b="1" dirty="0">
                <a:solidFill>
                  <a:srgbClr val="162234"/>
                </a:solidFill>
                <a:latin typeface="Calibri" pitchFamily="34" charset="0"/>
                <a:ea typeface="Calibri" pitchFamily="34" charset="-122"/>
                <a:cs typeface="Calibri" pitchFamily="34" charset="-120"/>
              </a:rPr>
              <a:t>Tools Used</a:t>
            </a:r>
            <a:endParaRPr lang="en-US" sz="1000" dirty="0"/>
          </a:p>
        </p:txBody>
      </p:sp>
      <p:sp>
        <p:nvSpPr>
          <p:cNvPr id="16" name="Text 14"/>
          <p:cNvSpPr/>
          <p:nvPr/>
        </p:nvSpPr>
        <p:spPr>
          <a:xfrm>
            <a:off x="3017520" y="2606040"/>
            <a:ext cx="8503920" cy="548640"/>
          </a:xfrm>
          <a:prstGeom prst="rect">
            <a:avLst/>
          </a:prstGeom>
          <a:noFill/>
          <a:ln/>
        </p:spPr>
        <p:txBody>
          <a:bodyPr wrap="square" rtlCol="0" anchor="ctr"/>
          <a:lstStyle/>
          <a:p>
            <a:pPr indent="0" marL="0">
              <a:lnSpc>
                <a:spcPct val="120000"/>
              </a:lnSpc>
              <a:buNone/>
            </a:pPr>
            <a:r>
              <a:rPr lang="en-US" sz="1000" dirty="0">
                <a:solidFill>
                  <a:srgbClr val="5E6A7A"/>
                </a:solidFill>
                <a:latin typeface="Calibri" pitchFamily="34" charset="0"/>
                <a:ea typeface="Calibri" pitchFamily="34" charset="-122"/>
                <a:cs typeface="Calibri" pitchFamily="34" charset="-120"/>
              </a:rPr>
              <a:t>Post hole diggers, augers, saws, nail guns, levels. ARC Site + Measure App.</a:t>
            </a:r>
            <a:endParaRPr lang="en-US" sz="1000" dirty="0"/>
          </a:p>
        </p:txBody>
      </p:sp>
      <p:sp>
        <p:nvSpPr>
          <p:cNvPr id="17" name="Shape 15"/>
          <p:cNvSpPr/>
          <p:nvPr/>
        </p:nvSpPr>
        <p:spPr>
          <a:xfrm>
            <a:off x="457200" y="3154680"/>
            <a:ext cx="11247120" cy="548640"/>
          </a:xfrm>
          <a:prstGeom prst="rect">
            <a:avLst/>
          </a:prstGeom>
          <a:solidFill>
            <a:srgbClr val="FFFFFF"/>
          </a:solidFill>
          <a:ln w="3810">
            <a:solidFill>
              <a:srgbClr val="D8DCE4"/>
            </a:solidFill>
            <a:prstDash val="solid"/>
          </a:ln>
        </p:spPr>
      </p:sp>
      <p:sp>
        <p:nvSpPr>
          <p:cNvPr id="18" name="Text 16"/>
          <p:cNvSpPr/>
          <p:nvPr/>
        </p:nvSpPr>
        <p:spPr>
          <a:xfrm>
            <a:off x="594360" y="3154680"/>
            <a:ext cx="2286000" cy="548640"/>
          </a:xfrm>
          <a:prstGeom prst="rect">
            <a:avLst/>
          </a:prstGeom>
          <a:noFill/>
          <a:ln/>
        </p:spPr>
        <p:txBody>
          <a:bodyPr wrap="square" rtlCol="0" anchor="ctr"/>
          <a:lstStyle/>
          <a:p>
            <a:pPr indent="0" marL="0">
              <a:buNone/>
            </a:pPr>
            <a:r>
              <a:rPr lang="en-US" sz="1000" b="1" dirty="0">
                <a:solidFill>
                  <a:srgbClr val="162234"/>
                </a:solidFill>
                <a:latin typeface="Calibri" pitchFamily="34" charset="0"/>
                <a:ea typeface="Calibri" pitchFamily="34" charset="-122"/>
                <a:cs typeface="Calibri" pitchFamily="34" charset="-120"/>
              </a:rPr>
              <a:t>Quality Standard</a:t>
            </a:r>
            <a:endParaRPr lang="en-US" sz="1000" dirty="0"/>
          </a:p>
        </p:txBody>
      </p:sp>
      <p:sp>
        <p:nvSpPr>
          <p:cNvPr id="19" name="Text 17"/>
          <p:cNvSpPr/>
          <p:nvPr/>
        </p:nvSpPr>
        <p:spPr>
          <a:xfrm>
            <a:off x="3017520" y="3154680"/>
            <a:ext cx="8503920" cy="548640"/>
          </a:xfrm>
          <a:prstGeom prst="rect">
            <a:avLst/>
          </a:prstGeom>
          <a:noFill/>
          <a:ln/>
        </p:spPr>
        <p:txBody>
          <a:bodyPr wrap="square" rtlCol="0" anchor="ctr"/>
          <a:lstStyle/>
          <a:p>
            <a:pPr indent="0" marL="0">
              <a:lnSpc>
                <a:spcPct val="120000"/>
              </a:lnSpc>
              <a:buNone/>
            </a:pPr>
            <a:r>
              <a:rPr lang="en-US" sz="1000" dirty="0">
                <a:solidFill>
                  <a:srgbClr val="5E6A7A"/>
                </a:solidFill>
                <a:latin typeface="Calibri" pitchFamily="34" charset="0"/>
                <a:ea typeface="Calibri" pitchFamily="34" charset="-122"/>
                <a:cs typeface="Calibri" pitchFamily="34" charset="-120"/>
              </a:rPr>
              <a:t>Posts plumb. Alignment clean. Zero debris. Company Cam close-out photos confirm every job.</a:t>
            </a:r>
            <a:endParaRPr lang="en-US" sz="1000" dirty="0"/>
          </a:p>
        </p:txBody>
      </p:sp>
      <p:sp>
        <p:nvSpPr>
          <p:cNvPr id="20" name="Shape 18"/>
          <p:cNvSpPr/>
          <p:nvPr/>
        </p:nvSpPr>
        <p:spPr>
          <a:xfrm>
            <a:off x="457200" y="3703320"/>
            <a:ext cx="11247120" cy="548640"/>
          </a:xfrm>
          <a:prstGeom prst="rect">
            <a:avLst/>
          </a:prstGeom>
          <a:solidFill>
            <a:srgbClr val="F7F8FA"/>
          </a:solidFill>
          <a:ln w="3810">
            <a:solidFill>
              <a:srgbClr val="D8DCE4"/>
            </a:solidFill>
            <a:prstDash val="solid"/>
          </a:ln>
        </p:spPr>
      </p:sp>
      <p:sp>
        <p:nvSpPr>
          <p:cNvPr id="21" name="Text 19"/>
          <p:cNvSpPr/>
          <p:nvPr/>
        </p:nvSpPr>
        <p:spPr>
          <a:xfrm>
            <a:off x="594360" y="3703320"/>
            <a:ext cx="2286000" cy="548640"/>
          </a:xfrm>
          <a:prstGeom prst="rect">
            <a:avLst/>
          </a:prstGeom>
          <a:noFill/>
          <a:ln/>
        </p:spPr>
        <p:txBody>
          <a:bodyPr wrap="square" rtlCol="0" anchor="ctr"/>
          <a:lstStyle/>
          <a:p>
            <a:pPr indent="0" marL="0">
              <a:buNone/>
            </a:pPr>
            <a:r>
              <a:rPr lang="en-US" sz="1000" b="1" dirty="0">
                <a:solidFill>
                  <a:srgbClr val="162234"/>
                </a:solidFill>
                <a:latin typeface="Calibri" pitchFamily="34" charset="0"/>
                <a:ea typeface="Calibri" pitchFamily="34" charset="-122"/>
                <a:cs typeface="Calibri" pitchFamily="34" charset="-120"/>
              </a:rPr>
              <a:t>Customer Interaction</a:t>
            </a:r>
            <a:endParaRPr lang="en-US" sz="1000" dirty="0"/>
          </a:p>
        </p:txBody>
      </p:sp>
      <p:sp>
        <p:nvSpPr>
          <p:cNvPr id="22" name="Text 20"/>
          <p:cNvSpPr/>
          <p:nvPr/>
        </p:nvSpPr>
        <p:spPr>
          <a:xfrm>
            <a:off x="3017520" y="3703320"/>
            <a:ext cx="8503920" cy="548640"/>
          </a:xfrm>
          <a:prstGeom prst="rect">
            <a:avLst/>
          </a:prstGeom>
          <a:noFill/>
          <a:ln/>
        </p:spPr>
        <p:txBody>
          <a:bodyPr wrap="square" rtlCol="0" anchor="ctr"/>
          <a:lstStyle/>
          <a:p>
            <a:pPr indent="0" marL="0">
              <a:lnSpc>
                <a:spcPct val="120000"/>
              </a:lnSpc>
              <a:buNone/>
            </a:pPr>
            <a:r>
              <a:rPr lang="en-US" sz="1000" dirty="0">
                <a:solidFill>
                  <a:srgbClr val="5E6A7A"/>
                </a:solidFill>
                <a:latin typeface="Calibri" pitchFamily="34" charset="0"/>
                <a:ea typeface="Calibri" pitchFamily="34" charset="-122"/>
                <a:cs typeface="Calibri" pitchFamily="34" charset="-120"/>
              </a:rPr>
              <a:t>Professional, brief, respectful. Questions go to crew lead. No field commitments.</a:t>
            </a:r>
            <a:endParaRPr lang="en-US" sz="1000" dirty="0"/>
          </a:p>
        </p:txBody>
      </p:sp>
      <p:sp>
        <p:nvSpPr>
          <p:cNvPr id="23" name="Shape 21"/>
          <p:cNvSpPr/>
          <p:nvPr/>
        </p:nvSpPr>
        <p:spPr>
          <a:xfrm>
            <a:off x="457200" y="4251960"/>
            <a:ext cx="11247120" cy="548640"/>
          </a:xfrm>
          <a:prstGeom prst="rect">
            <a:avLst/>
          </a:prstGeom>
          <a:solidFill>
            <a:srgbClr val="FFFFFF"/>
          </a:solidFill>
          <a:ln w="3810">
            <a:solidFill>
              <a:srgbClr val="D8DCE4"/>
            </a:solidFill>
            <a:prstDash val="solid"/>
          </a:ln>
        </p:spPr>
      </p:sp>
      <p:sp>
        <p:nvSpPr>
          <p:cNvPr id="24" name="Text 22"/>
          <p:cNvSpPr/>
          <p:nvPr/>
        </p:nvSpPr>
        <p:spPr>
          <a:xfrm>
            <a:off x="594360" y="4251960"/>
            <a:ext cx="2286000" cy="548640"/>
          </a:xfrm>
          <a:prstGeom prst="rect">
            <a:avLst/>
          </a:prstGeom>
          <a:noFill/>
          <a:ln/>
        </p:spPr>
        <p:txBody>
          <a:bodyPr wrap="square" rtlCol="0" anchor="ctr"/>
          <a:lstStyle/>
          <a:p>
            <a:pPr indent="0" marL="0">
              <a:buNone/>
            </a:pPr>
            <a:r>
              <a:rPr lang="en-US" sz="1000" b="1" dirty="0">
                <a:solidFill>
                  <a:srgbClr val="162234"/>
                </a:solidFill>
                <a:latin typeface="Calibri" pitchFamily="34" charset="0"/>
                <a:ea typeface="Calibri" pitchFamily="34" charset="-122"/>
                <a:cs typeface="Calibri" pitchFamily="34" charset="-120"/>
              </a:rPr>
              <a:t>Work Schedule</a:t>
            </a:r>
            <a:endParaRPr lang="en-US" sz="1000" dirty="0"/>
          </a:p>
        </p:txBody>
      </p:sp>
      <p:sp>
        <p:nvSpPr>
          <p:cNvPr id="25" name="Text 23"/>
          <p:cNvSpPr/>
          <p:nvPr/>
        </p:nvSpPr>
        <p:spPr>
          <a:xfrm>
            <a:off x="3017520" y="4251960"/>
            <a:ext cx="8503920" cy="548640"/>
          </a:xfrm>
          <a:prstGeom prst="rect">
            <a:avLst/>
          </a:prstGeom>
          <a:noFill/>
          <a:ln/>
        </p:spPr>
        <p:txBody>
          <a:bodyPr wrap="square" rtlCol="0" anchor="ctr"/>
          <a:lstStyle/>
          <a:p>
            <a:pPr indent="0" marL="0">
              <a:lnSpc>
                <a:spcPct val="120000"/>
              </a:lnSpc>
              <a:buNone/>
            </a:pPr>
            <a:r>
              <a:rPr lang="en-US" sz="1000" dirty="0">
                <a:solidFill>
                  <a:srgbClr val="5E6A7A"/>
                </a:solidFill>
                <a:latin typeface="Calibri" pitchFamily="34" charset="0"/>
                <a:ea typeface="Calibri" pitchFamily="34" charset="-122"/>
                <a:cs typeface="Calibri" pitchFamily="34" charset="-120"/>
              </a:rPr>
              <a:t>Monday–Friday. Hours per job schedule. Weather delays through office.</a:t>
            </a:r>
            <a:endParaRPr lang="en-US" sz="1000" dirty="0"/>
          </a:p>
        </p:txBody>
      </p:sp>
      <p:sp>
        <p:nvSpPr>
          <p:cNvPr id="26" name="Shape 24"/>
          <p:cNvSpPr/>
          <p:nvPr/>
        </p:nvSpPr>
        <p:spPr>
          <a:xfrm>
            <a:off x="457200" y="4800600"/>
            <a:ext cx="11247120" cy="548640"/>
          </a:xfrm>
          <a:prstGeom prst="rect">
            <a:avLst/>
          </a:prstGeom>
          <a:solidFill>
            <a:srgbClr val="F7F8FA"/>
          </a:solidFill>
          <a:ln w="3810">
            <a:solidFill>
              <a:srgbClr val="D8DCE4"/>
            </a:solidFill>
            <a:prstDash val="solid"/>
          </a:ln>
        </p:spPr>
      </p:sp>
      <p:sp>
        <p:nvSpPr>
          <p:cNvPr id="27" name="Text 25"/>
          <p:cNvSpPr/>
          <p:nvPr/>
        </p:nvSpPr>
        <p:spPr>
          <a:xfrm>
            <a:off x="594360" y="4800600"/>
            <a:ext cx="2286000" cy="548640"/>
          </a:xfrm>
          <a:prstGeom prst="rect">
            <a:avLst/>
          </a:prstGeom>
          <a:noFill/>
          <a:ln/>
        </p:spPr>
        <p:txBody>
          <a:bodyPr wrap="square" rtlCol="0" anchor="ctr"/>
          <a:lstStyle/>
          <a:p>
            <a:pPr indent="0" marL="0">
              <a:buNone/>
            </a:pPr>
            <a:r>
              <a:rPr lang="en-US" sz="1000" b="1" dirty="0">
                <a:solidFill>
                  <a:srgbClr val="162234"/>
                </a:solidFill>
                <a:latin typeface="Calibri" pitchFamily="34" charset="0"/>
                <a:ea typeface="Calibri" pitchFamily="34" charset="-122"/>
                <a:cs typeface="Calibri" pitchFamily="34" charset="-120"/>
              </a:rPr>
              <a:t>Reporting Structure</a:t>
            </a:r>
            <a:endParaRPr lang="en-US" sz="1000" dirty="0"/>
          </a:p>
        </p:txBody>
      </p:sp>
      <p:sp>
        <p:nvSpPr>
          <p:cNvPr id="28" name="Text 26"/>
          <p:cNvSpPr/>
          <p:nvPr/>
        </p:nvSpPr>
        <p:spPr>
          <a:xfrm>
            <a:off x="3017520" y="4800600"/>
            <a:ext cx="8503920" cy="548640"/>
          </a:xfrm>
          <a:prstGeom prst="rect">
            <a:avLst/>
          </a:prstGeom>
          <a:noFill/>
          <a:ln/>
        </p:spPr>
        <p:txBody>
          <a:bodyPr wrap="square" rtlCol="0" anchor="ctr"/>
          <a:lstStyle/>
          <a:p>
            <a:pPr indent="0" marL="0">
              <a:lnSpc>
                <a:spcPct val="120000"/>
              </a:lnSpc>
              <a:buNone/>
            </a:pPr>
            <a:r>
              <a:rPr lang="en-US" sz="1000" dirty="0">
                <a:solidFill>
                  <a:srgbClr val="5E6A7A"/>
                </a:solidFill>
                <a:latin typeface="Calibri" pitchFamily="34" charset="0"/>
                <a:ea typeface="Calibri" pitchFamily="34" charset="-122"/>
                <a:cs typeface="Calibri" pitchFamily="34" charset="-120"/>
              </a:rPr>
              <a:t>You → Crew Lead → Director of Sales → Luke (Owner).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BF1120"/>
          </a:solidFill>
          <a:ln/>
        </p:spPr>
      </p:sp>
      <p:sp>
        <p:nvSpPr>
          <p:cNvPr id="3" name="Text 1"/>
          <p:cNvSpPr/>
          <p:nvPr/>
        </p:nvSpPr>
        <p:spPr>
          <a:xfrm>
            <a:off x="457200" y="274320"/>
            <a:ext cx="365760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02  DAY-ONE DOCUMENTS</a:t>
            </a:r>
            <a:endParaRPr lang="en-US" sz="800" dirty="0"/>
          </a:p>
        </p:txBody>
      </p:sp>
      <p:sp>
        <p:nvSpPr>
          <p:cNvPr id="4" name="Text 2"/>
          <p:cNvSpPr/>
          <p:nvPr/>
        </p:nvSpPr>
        <p:spPr>
          <a:xfrm>
            <a:off x="457200" y="548640"/>
            <a:ext cx="7315200" cy="457200"/>
          </a:xfrm>
          <a:prstGeom prst="rect">
            <a:avLst/>
          </a:prstGeom>
          <a:noFill/>
          <a:ln/>
        </p:spPr>
        <p:txBody>
          <a:bodyPr wrap="square" rtlCol="0" anchor="ctr"/>
          <a:lstStyle/>
          <a:p>
            <a:pPr indent="0" marL="0">
              <a:buNone/>
            </a:pPr>
            <a:r>
              <a:rPr lang="en-US" sz="2800" b="1" dirty="0">
                <a:solidFill>
                  <a:srgbClr val="162234"/>
                </a:solidFill>
                <a:latin typeface="Georgia" pitchFamily="34" charset="0"/>
                <a:ea typeface="Georgia" pitchFamily="34" charset="-122"/>
                <a:cs typeface="Georgia" pitchFamily="34" charset="-120"/>
              </a:rPr>
              <a:t>Day-One Documents</a:t>
            </a:r>
            <a:endParaRPr lang="en-US" sz="2800" dirty="0"/>
          </a:p>
        </p:txBody>
      </p:sp>
      <p:sp>
        <p:nvSpPr>
          <p:cNvPr id="5" name="Text 3"/>
          <p:cNvSpPr/>
          <p:nvPr/>
        </p:nvSpPr>
        <p:spPr>
          <a:xfrm>
            <a:off x="457200" y="1005840"/>
            <a:ext cx="7315200" cy="274320"/>
          </a:xfrm>
          <a:prstGeom prst="rect">
            <a:avLst/>
          </a:prstGeom>
          <a:noFill/>
          <a:ln/>
        </p:spPr>
        <p:txBody>
          <a:bodyPr wrap="square" rtlCol="0" anchor="ctr"/>
          <a:lstStyle/>
          <a:p>
            <a:pPr indent="0" marL="0">
              <a:buNone/>
            </a:pPr>
            <a:r>
              <a:rPr lang="en-US" sz="1100" i="1" dirty="0">
                <a:solidFill>
                  <a:srgbClr val="5E6A7A"/>
                </a:solidFill>
                <a:latin typeface="Calibri" pitchFamily="34" charset="0"/>
                <a:ea typeface="Calibri" pitchFamily="34" charset="-122"/>
                <a:cs typeface="Calibri" pitchFamily="34" charset="-120"/>
              </a:rPr>
              <a:t>Legally required. Complete before or on your first day.</a:t>
            </a:r>
            <a:endParaRPr lang="en-US" sz="1100" dirty="0"/>
          </a:p>
        </p:txBody>
      </p:sp>
      <p:sp>
        <p:nvSpPr>
          <p:cNvPr id="6" name="Shape 4"/>
          <p:cNvSpPr/>
          <p:nvPr/>
        </p:nvSpPr>
        <p:spPr>
          <a:xfrm>
            <a:off x="457200" y="1508760"/>
            <a:ext cx="10515600" cy="502920"/>
          </a:xfrm>
          <a:prstGeom prst="rect">
            <a:avLst/>
          </a:prstGeom>
          <a:solidFill>
            <a:srgbClr val="EEF3F8"/>
          </a:solidFill>
          <a:ln w="3810">
            <a:solidFill>
              <a:srgbClr val="D8DCE4"/>
            </a:solidFill>
            <a:prstDash val="solid"/>
          </a:ln>
        </p:spPr>
      </p:sp>
      <p:sp>
        <p:nvSpPr>
          <p:cNvPr id="7" name="Shape 5"/>
          <p:cNvSpPr/>
          <p:nvPr/>
        </p:nvSpPr>
        <p:spPr>
          <a:xfrm>
            <a:off x="640080" y="1618488"/>
            <a:ext cx="274320" cy="274320"/>
          </a:xfrm>
          <a:prstGeom prst="roundRect">
            <a:avLst>
              <a:gd name="adj" fmla="val 16667"/>
            </a:avLst>
          </a:prstGeom>
          <a:solidFill>
            <a:srgbClr val="FFFFFF"/>
          </a:solidFill>
          <a:ln w="12700">
            <a:solidFill>
              <a:srgbClr val="D8DCE4"/>
            </a:solidFill>
            <a:prstDash val="solid"/>
          </a:ln>
        </p:spPr>
      </p:sp>
      <p:sp>
        <p:nvSpPr>
          <p:cNvPr id="8" name="Text 6"/>
          <p:cNvSpPr/>
          <p:nvPr/>
        </p:nvSpPr>
        <p:spPr>
          <a:xfrm>
            <a:off x="1097280" y="1508760"/>
            <a:ext cx="9601200" cy="502920"/>
          </a:xfrm>
          <a:prstGeom prst="rect">
            <a:avLst/>
          </a:prstGeom>
          <a:noFill/>
          <a:ln/>
        </p:spPr>
        <p:txBody>
          <a:bodyPr wrap="square" rtlCol="0" anchor="ctr"/>
          <a:lstStyle/>
          <a:p>
            <a:pPr indent="0" marL="0">
              <a:buNone/>
            </a:pPr>
            <a:r>
              <a:rPr lang="en-US" sz="1100" dirty="0">
                <a:solidFill>
                  <a:srgbClr val="162234"/>
                </a:solidFill>
                <a:latin typeface="Calibri" pitchFamily="34" charset="0"/>
                <a:ea typeface="Calibri" pitchFamily="34" charset="-122"/>
                <a:cs typeface="Calibri" pitchFamily="34" charset="-120"/>
              </a:rPr>
              <a:t>Form I-9 — Employment Eligibility Verification</a:t>
            </a:r>
            <a:endParaRPr lang="en-US" sz="1100" dirty="0"/>
          </a:p>
        </p:txBody>
      </p:sp>
      <p:sp>
        <p:nvSpPr>
          <p:cNvPr id="9" name="Shape 7"/>
          <p:cNvSpPr/>
          <p:nvPr/>
        </p:nvSpPr>
        <p:spPr>
          <a:xfrm>
            <a:off x="457200" y="2011680"/>
            <a:ext cx="10515600" cy="502920"/>
          </a:xfrm>
          <a:prstGeom prst="rect">
            <a:avLst/>
          </a:prstGeom>
          <a:solidFill>
            <a:srgbClr val="FFFFFF"/>
          </a:solidFill>
          <a:ln w="3810">
            <a:solidFill>
              <a:srgbClr val="D8DCE4"/>
            </a:solidFill>
            <a:prstDash val="solid"/>
          </a:ln>
        </p:spPr>
      </p:sp>
      <p:sp>
        <p:nvSpPr>
          <p:cNvPr id="10" name="Shape 8"/>
          <p:cNvSpPr/>
          <p:nvPr/>
        </p:nvSpPr>
        <p:spPr>
          <a:xfrm>
            <a:off x="640080" y="2121408"/>
            <a:ext cx="274320" cy="274320"/>
          </a:xfrm>
          <a:prstGeom prst="roundRect">
            <a:avLst>
              <a:gd name="adj" fmla="val 16667"/>
            </a:avLst>
          </a:prstGeom>
          <a:solidFill>
            <a:srgbClr val="FFFFFF"/>
          </a:solidFill>
          <a:ln w="12700">
            <a:solidFill>
              <a:srgbClr val="D8DCE4"/>
            </a:solidFill>
            <a:prstDash val="solid"/>
          </a:ln>
        </p:spPr>
      </p:sp>
      <p:sp>
        <p:nvSpPr>
          <p:cNvPr id="11" name="Text 9"/>
          <p:cNvSpPr/>
          <p:nvPr/>
        </p:nvSpPr>
        <p:spPr>
          <a:xfrm>
            <a:off x="1097280" y="2011680"/>
            <a:ext cx="9601200" cy="502920"/>
          </a:xfrm>
          <a:prstGeom prst="rect">
            <a:avLst/>
          </a:prstGeom>
          <a:noFill/>
          <a:ln/>
        </p:spPr>
        <p:txBody>
          <a:bodyPr wrap="square" rtlCol="0" anchor="ctr"/>
          <a:lstStyle/>
          <a:p>
            <a:pPr indent="0" marL="0">
              <a:buNone/>
            </a:pPr>
            <a:r>
              <a:rPr lang="en-US" sz="1100" dirty="0">
                <a:solidFill>
                  <a:srgbClr val="162234"/>
                </a:solidFill>
                <a:latin typeface="Calibri" pitchFamily="34" charset="0"/>
                <a:ea typeface="Calibri" pitchFamily="34" charset="-122"/>
                <a:cs typeface="Calibri" pitchFamily="34" charset="-120"/>
              </a:rPr>
              <a:t>W-4 — Federal Tax Withholding</a:t>
            </a:r>
            <a:endParaRPr lang="en-US" sz="1100" dirty="0"/>
          </a:p>
        </p:txBody>
      </p:sp>
      <p:sp>
        <p:nvSpPr>
          <p:cNvPr id="12" name="Shape 10"/>
          <p:cNvSpPr/>
          <p:nvPr/>
        </p:nvSpPr>
        <p:spPr>
          <a:xfrm>
            <a:off x="457200" y="2514600"/>
            <a:ext cx="10515600" cy="502920"/>
          </a:xfrm>
          <a:prstGeom prst="rect">
            <a:avLst/>
          </a:prstGeom>
          <a:solidFill>
            <a:srgbClr val="EEF3F8"/>
          </a:solidFill>
          <a:ln w="3810">
            <a:solidFill>
              <a:srgbClr val="D8DCE4"/>
            </a:solidFill>
            <a:prstDash val="solid"/>
          </a:ln>
        </p:spPr>
      </p:sp>
      <p:sp>
        <p:nvSpPr>
          <p:cNvPr id="13" name="Shape 11"/>
          <p:cNvSpPr/>
          <p:nvPr/>
        </p:nvSpPr>
        <p:spPr>
          <a:xfrm>
            <a:off x="640080" y="2624328"/>
            <a:ext cx="274320" cy="274320"/>
          </a:xfrm>
          <a:prstGeom prst="roundRect">
            <a:avLst>
              <a:gd name="adj" fmla="val 16667"/>
            </a:avLst>
          </a:prstGeom>
          <a:solidFill>
            <a:srgbClr val="FFFFFF"/>
          </a:solidFill>
          <a:ln w="12700">
            <a:solidFill>
              <a:srgbClr val="D8DCE4"/>
            </a:solidFill>
            <a:prstDash val="solid"/>
          </a:ln>
        </p:spPr>
      </p:sp>
      <p:sp>
        <p:nvSpPr>
          <p:cNvPr id="14" name="Text 12"/>
          <p:cNvSpPr/>
          <p:nvPr/>
        </p:nvSpPr>
        <p:spPr>
          <a:xfrm>
            <a:off x="1097280" y="2514600"/>
            <a:ext cx="9601200" cy="502920"/>
          </a:xfrm>
          <a:prstGeom prst="rect">
            <a:avLst/>
          </a:prstGeom>
          <a:noFill/>
          <a:ln/>
        </p:spPr>
        <p:txBody>
          <a:bodyPr wrap="square" rtlCol="0" anchor="ctr"/>
          <a:lstStyle/>
          <a:p>
            <a:pPr indent="0" marL="0">
              <a:buNone/>
            </a:pPr>
            <a:r>
              <a:rPr lang="en-US" sz="1100" dirty="0">
                <a:solidFill>
                  <a:srgbClr val="162234"/>
                </a:solidFill>
                <a:latin typeface="Calibri" pitchFamily="34" charset="0"/>
                <a:ea typeface="Calibri" pitchFamily="34" charset="-122"/>
                <a:cs typeface="Calibri" pitchFamily="34" charset="-120"/>
              </a:rPr>
              <a:t>Florida State Tax Forms (if applicable)</a:t>
            </a:r>
            <a:endParaRPr lang="en-US" sz="1100" dirty="0"/>
          </a:p>
        </p:txBody>
      </p:sp>
      <p:sp>
        <p:nvSpPr>
          <p:cNvPr id="15" name="Shape 13"/>
          <p:cNvSpPr/>
          <p:nvPr/>
        </p:nvSpPr>
        <p:spPr>
          <a:xfrm>
            <a:off x="457200" y="3017520"/>
            <a:ext cx="10515600" cy="502920"/>
          </a:xfrm>
          <a:prstGeom prst="rect">
            <a:avLst/>
          </a:prstGeom>
          <a:solidFill>
            <a:srgbClr val="FFFFFF"/>
          </a:solidFill>
          <a:ln w="3810">
            <a:solidFill>
              <a:srgbClr val="D8DCE4"/>
            </a:solidFill>
            <a:prstDash val="solid"/>
          </a:ln>
        </p:spPr>
      </p:sp>
      <p:sp>
        <p:nvSpPr>
          <p:cNvPr id="16" name="Shape 14"/>
          <p:cNvSpPr/>
          <p:nvPr/>
        </p:nvSpPr>
        <p:spPr>
          <a:xfrm>
            <a:off x="640080" y="3127248"/>
            <a:ext cx="274320" cy="274320"/>
          </a:xfrm>
          <a:prstGeom prst="roundRect">
            <a:avLst>
              <a:gd name="adj" fmla="val 16667"/>
            </a:avLst>
          </a:prstGeom>
          <a:solidFill>
            <a:srgbClr val="FFFFFF"/>
          </a:solidFill>
          <a:ln w="12700">
            <a:solidFill>
              <a:srgbClr val="D8DCE4"/>
            </a:solidFill>
            <a:prstDash val="solid"/>
          </a:ln>
        </p:spPr>
      </p:sp>
      <p:sp>
        <p:nvSpPr>
          <p:cNvPr id="17" name="Text 15"/>
          <p:cNvSpPr/>
          <p:nvPr/>
        </p:nvSpPr>
        <p:spPr>
          <a:xfrm>
            <a:off x="1097280" y="3017520"/>
            <a:ext cx="9601200" cy="502920"/>
          </a:xfrm>
          <a:prstGeom prst="rect">
            <a:avLst/>
          </a:prstGeom>
          <a:noFill/>
          <a:ln/>
        </p:spPr>
        <p:txBody>
          <a:bodyPr wrap="square" rtlCol="0" anchor="ctr"/>
          <a:lstStyle/>
          <a:p>
            <a:pPr indent="0" marL="0">
              <a:buNone/>
            </a:pPr>
            <a:r>
              <a:rPr lang="en-US" sz="1100" dirty="0">
                <a:solidFill>
                  <a:srgbClr val="162234"/>
                </a:solidFill>
                <a:latin typeface="Calibri" pitchFamily="34" charset="0"/>
                <a:ea typeface="Calibri" pitchFamily="34" charset="-122"/>
                <a:cs typeface="Calibri" pitchFamily="34" charset="-120"/>
              </a:rPr>
              <a:t>Direct Deposit Authorization</a:t>
            </a:r>
            <a:endParaRPr lang="en-US" sz="1100" dirty="0"/>
          </a:p>
        </p:txBody>
      </p:sp>
      <p:sp>
        <p:nvSpPr>
          <p:cNvPr id="18" name="Shape 16"/>
          <p:cNvSpPr/>
          <p:nvPr/>
        </p:nvSpPr>
        <p:spPr>
          <a:xfrm>
            <a:off x="457200" y="3520440"/>
            <a:ext cx="10515600" cy="502920"/>
          </a:xfrm>
          <a:prstGeom prst="rect">
            <a:avLst/>
          </a:prstGeom>
          <a:solidFill>
            <a:srgbClr val="EEF3F8"/>
          </a:solidFill>
          <a:ln w="3810">
            <a:solidFill>
              <a:srgbClr val="D8DCE4"/>
            </a:solidFill>
            <a:prstDash val="solid"/>
          </a:ln>
        </p:spPr>
      </p:sp>
      <p:sp>
        <p:nvSpPr>
          <p:cNvPr id="19" name="Shape 17"/>
          <p:cNvSpPr/>
          <p:nvPr/>
        </p:nvSpPr>
        <p:spPr>
          <a:xfrm>
            <a:off x="640080" y="3630168"/>
            <a:ext cx="274320" cy="274320"/>
          </a:xfrm>
          <a:prstGeom prst="roundRect">
            <a:avLst>
              <a:gd name="adj" fmla="val 16667"/>
            </a:avLst>
          </a:prstGeom>
          <a:solidFill>
            <a:srgbClr val="FFFFFF"/>
          </a:solidFill>
          <a:ln w="12700">
            <a:solidFill>
              <a:srgbClr val="D8DCE4"/>
            </a:solidFill>
            <a:prstDash val="solid"/>
          </a:ln>
        </p:spPr>
      </p:sp>
      <p:sp>
        <p:nvSpPr>
          <p:cNvPr id="20" name="Text 18"/>
          <p:cNvSpPr/>
          <p:nvPr/>
        </p:nvSpPr>
        <p:spPr>
          <a:xfrm>
            <a:off x="1097280" y="3520440"/>
            <a:ext cx="9601200" cy="502920"/>
          </a:xfrm>
          <a:prstGeom prst="rect">
            <a:avLst/>
          </a:prstGeom>
          <a:noFill/>
          <a:ln/>
        </p:spPr>
        <p:txBody>
          <a:bodyPr wrap="square" rtlCol="0" anchor="ctr"/>
          <a:lstStyle/>
          <a:p>
            <a:pPr indent="0" marL="0">
              <a:buNone/>
            </a:pPr>
            <a:r>
              <a:rPr lang="en-US" sz="1100" dirty="0">
                <a:solidFill>
                  <a:srgbClr val="162234"/>
                </a:solidFill>
                <a:latin typeface="Calibri" pitchFamily="34" charset="0"/>
                <a:ea typeface="Calibri" pitchFamily="34" charset="-122"/>
                <a:cs typeface="Calibri" pitchFamily="34" charset="-120"/>
              </a:rPr>
              <a:t>Emergency Contact Form</a:t>
            </a:r>
            <a:endParaRPr lang="en-US" sz="1100" dirty="0"/>
          </a:p>
        </p:txBody>
      </p:sp>
      <p:sp>
        <p:nvSpPr>
          <p:cNvPr id="21" name="Shape 19"/>
          <p:cNvSpPr/>
          <p:nvPr/>
        </p:nvSpPr>
        <p:spPr>
          <a:xfrm>
            <a:off x="457200" y="4023360"/>
            <a:ext cx="10515600" cy="502920"/>
          </a:xfrm>
          <a:prstGeom prst="rect">
            <a:avLst/>
          </a:prstGeom>
          <a:solidFill>
            <a:srgbClr val="FFFFFF"/>
          </a:solidFill>
          <a:ln w="3810">
            <a:solidFill>
              <a:srgbClr val="D8DCE4"/>
            </a:solidFill>
            <a:prstDash val="solid"/>
          </a:ln>
        </p:spPr>
      </p:sp>
      <p:sp>
        <p:nvSpPr>
          <p:cNvPr id="22" name="Shape 20"/>
          <p:cNvSpPr/>
          <p:nvPr/>
        </p:nvSpPr>
        <p:spPr>
          <a:xfrm>
            <a:off x="640080" y="4133088"/>
            <a:ext cx="274320" cy="274320"/>
          </a:xfrm>
          <a:prstGeom prst="roundRect">
            <a:avLst>
              <a:gd name="adj" fmla="val 16667"/>
            </a:avLst>
          </a:prstGeom>
          <a:solidFill>
            <a:srgbClr val="FFFFFF"/>
          </a:solidFill>
          <a:ln w="12700">
            <a:solidFill>
              <a:srgbClr val="D8DCE4"/>
            </a:solidFill>
            <a:prstDash val="solid"/>
          </a:ln>
        </p:spPr>
      </p:sp>
      <p:sp>
        <p:nvSpPr>
          <p:cNvPr id="23" name="Text 21"/>
          <p:cNvSpPr/>
          <p:nvPr/>
        </p:nvSpPr>
        <p:spPr>
          <a:xfrm>
            <a:off x="1097280" y="4023360"/>
            <a:ext cx="9601200" cy="502920"/>
          </a:xfrm>
          <a:prstGeom prst="rect">
            <a:avLst/>
          </a:prstGeom>
          <a:noFill/>
          <a:ln/>
        </p:spPr>
        <p:txBody>
          <a:bodyPr wrap="square" rtlCol="0" anchor="ctr"/>
          <a:lstStyle/>
          <a:p>
            <a:pPr indent="0" marL="0">
              <a:buNone/>
            </a:pPr>
            <a:r>
              <a:rPr lang="en-US" sz="1100" dirty="0">
                <a:solidFill>
                  <a:srgbClr val="162234"/>
                </a:solidFill>
                <a:latin typeface="Calibri" pitchFamily="34" charset="0"/>
                <a:ea typeface="Calibri" pitchFamily="34" charset="-122"/>
                <a:cs typeface="Calibri" pitchFamily="34" charset="-120"/>
              </a:rPr>
              <a:t>Driver's License / Government ID — copy on file</a:t>
            </a:r>
            <a:endParaRPr lang="en-US" sz="1100" dirty="0"/>
          </a:p>
        </p:txBody>
      </p:sp>
      <p:sp>
        <p:nvSpPr>
          <p:cNvPr id="24" name="Shape 22"/>
          <p:cNvSpPr/>
          <p:nvPr/>
        </p:nvSpPr>
        <p:spPr>
          <a:xfrm>
            <a:off x="457200" y="4526280"/>
            <a:ext cx="10515600" cy="502920"/>
          </a:xfrm>
          <a:prstGeom prst="rect">
            <a:avLst/>
          </a:prstGeom>
          <a:solidFill>
            <a:srgbClr val="EEF3F8"/>
          </a:solidFill>
          <a:ln w="3810">
            <a:solidFill>
              <a:srgbClr val="D8DCE4"/>
            </a:solidFill>
            <a:prstDash val="solid"/>
          </a:ln>
        </p:spPr>
      </p:sp>
      <p:sp>
        <p:nvSpPr>
          <p:cNvPr id="25" name="Shape 23"/>
          <p:cNvSpPr/>
          <p:nvPr/>
        </p:nvSpPr>
        <p:spPr>
          <a:xfrm>
            <a:off x="640080" y="4636008"/>
            <a:ext cx="274320" cy="274320"/>
          </a:xfrm>
          <a:prstGeom prst="roundRect">
            <a:avLst>
              <a:gd name="adj" fmla="val 16667"/>
            </a:avLst>
          </a:prstGeom>
          <a:solidFill>
            <a:srgbClr val="FFFFFF"/>
          </a:solidFill>
          <a:ln w="12700">
            <a:solidFill>
              <a:srgbClr val="D8DCE4"/>
            </a:solidFill>
            <a:prstDash val="solid"/>
          </a:ln>
        </p:spPr>
      </p:sp>
      <p:sp>
        <p:nvSpPr>
          <p:cNvPr id="26" name="Text 24"/>
          <p:cNvSpPr/>
          <p:nvPr/>
        </p:nvSpPr>
        <p:spPr>
          <a:xfrm>
            <a:off x="1097280" y="4526280"/>
            <a:ext cx="9601200" cy="502920"/>
          </a:xfrm>
          <a:prstGeom prst="rect">
            <a:avLst/>
          </a:prstGeom>
          <a:noFill/>
          <a:ln/>
        </p:spPr>
        <p:txBody>
          <a:bodyPr wrap="square" rtlCol="0" anchor="ctr"/>
          <a:lstStyle/>
          <a:p>
            <a:pPr indent="0" marL="0">
              <a:buNone/>
            </a:pPr>
            <a:r>
              <a:rPr lang="en-US" sz="1100" dirty="0">
                <a:solidFill>
                  <a:srgbClr val="162234"/>
                </a:solidFill>
                <a:latin typeface="Calibri" pitchFamily="34" charset="0"/>
                <a:ea typeface="Calibri" pitchFamily="34" charset="-122"/>
                <a:cs typeface="Calibri" pitchFamily="34" charset="-120"/>
              </a:rPr>
              <a:t>Employee Handbook Acknowledgment</a:t>
            </a:r>
            <a:endParaRPr lang="en-US" sz="1100" dirty="0"/>
          </a:p>
        </p:txBody>
      </p:sp>
      <p:sp>
        <p:nvSpPr>
          <p:cNvPr id="27" name="Shape 25"/>
          <p:cNvSpPr/>
          <p:nvPr/>
        </p:nvSpPr>
        <p:spPr>
          <a:xfrm>
            <a:off x="457200" y="5212080"/>
            <a:ext cx="10515600" cy="594360"/>
          </a:xfrm>
          <a:prstGeom prst="roundRect">
            <a:avLst>
              <a:gd name="adj" fmla="val 9231"/>
            </a:avLst>
          </a:prstGeom>
          <a:solidFill>
            <a:srgbClr val="EEF3F8"/>
          </a:solidFill>
          <a:ln w="6350">
            <a:solidFill>
              <a:srgbClr val="D8DCE4"/>
            </a:solidFill>
            <a:prstDash val="solid"/>
          </a:ln>
        </p:spPr>
      </p:sp>
      <p:sp>
        <p:nvSpPr>
          <p:cNvPr id="28" name="Text 26"/>
          <p:cNvSpPr/>
          <p:nvPr/>
        </p:nvSpPr>
        <p:spPr>
          <a:xfrm>
            <a:off x="731520" y="5257800"/>
            <a:ext cx="4572000" cy="228600"/>
          </a:xfrm>
          <a:prstGeom prst="rect">
            <a:avLst/>
          </a:prstGeom>
          <a:noFill/>
          <a:ln/>
        </p:spPr>
        <p:txBody>
          <a:bodyPr wrap="square" rtlCol="0" anchor="ctr"/>
          <a:lstStyle/>
          <a:p>
            <a:pPr indent="0" marL="0">
              <a:buNone/>
            </a:pPr>
            <a:r>
              <a:rPr lang="en-US" sz="800" b="1" spc="150" kern="0" dirty="0">
                <a:solidFill>
                  <a:srgbClr val="162234"/>
                </a:solidFill>
                <a:latin typeface="Courier New" pitchFamily="34" charset="0"/>
                <a:ea typeface="Courier New" pitchFamily="34" charset="-122"/>
                <a:cs typeface="Courier New" pitchFamily="34" charset="-120"/>
              </a:rPr>
              <a:t>📋  OFFICE CONTACT</a:t>
            </a:r>
            <a:endParaRPr lang="en-US" sz="800" dirty="0"/>
          </a:p>
        </p:txBody>
      </p:sp>
      <p:sp>
        <p:nvSpPr>
          <p:cNvPr id="29" name="Text 27"/>
          <p:cNvSpPr/>
          <p:nvPr/>
        </p:nvSpPr>
        <p:spPr>
          <a:xfrm>
            <a:off x="731520" y="5486400"/>
            <a:ext cx="9144000" cy="228600"/>
          </a:xfrm>
          <a:prstGeom prst="rect">
            <a:avLst/>
          </a:prstGeom>
          <a:noFill/>
          <a:ln/>
        </p:spPr>
        <p:txBody>
          <a:bodyPr wrap="square" rtlCol="0" anchor="ctr"/>
          <a:lstStyle/>
          <a:p>
            <a:pPr indent="0" marL="0">
              <a:buNone/>
            </a:pPr>
            <a:r>
              <a:rPr lang="en-US" sz="900" dirty="0">
                <a:solidFill>
                  <a:srgbClr val="5E6A7A"/>
                </a:solidFill>
                <a:latin typeface="Calibri" pitchFamily="34" charset="0"/>
                <a:ea typeface="Calibri" pitchFamily="34" charset="-122"/>
                <a:cs typeface="Calibri" pitchFamily="34" charset="-120"/>
              </a:rPr>
              <a:t>720 W Broad Street, Groveland, FL  ·  (352) 429-9999  ·  info@completecustomfence.com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BF1120"/>
          </a:solidFill>
          <a:ln/>
        </p:spPr>
      </p:sp>
      <p:sp>
        <p:nvSpPr>
          <p:cNvPr id="3" name="Text 1"/>
          <p:cNvSpPr/>
          <p:nvPr/>
        </p:nvSpPr>
        <p:spPr>
          <a:xfrm>
            <a:off x="457200" y="274320"/>
            <a:ext cx="365760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07  SAFETY GUIDELINES</a:t>
            </a:r>
            <a:endParaRPr lang="en-US" sz="800" dirty="0"/>
          </a:p>
        </p:txBody>
      </p:sp>
      <p:sp>
        <p:nvSpPr>
          <p:cNvPr id="4" name="Text 2"/>
          <p:cNvSpPr/>
          <p:nvPr/>
        </p:nvSpPr>
        <p:spPr>
          <a:xfrm>
            <a:off x="457200" y="548640"/>
            <a:ext cx="7315200" cy="457200"/>
          </a:xfrm>
          <a:prstGeom prst="rect">
            <a:avLst/>
          </a:prstGeom>
          <a:noFill/>
          <a:ln/>
        </p:spPr>
        <p:txBody>
          <a:bodyPr wrap="square" rtlCol="0" anchor="ctr"/>
          <a:lstStyle/>
          <a:p>
            <a:pPr indent="0" marL="0">
              <a:buNone/>
            </a:pPr>
            <a:r>
              <a:rPr lang="en-US" sz="2800" b="1" dirty="0">
                <a:solidFill>
                  <a:srgbClr val="162234"/>
                </a:solidFill>
                <a:latin typeface="Georgia" pitchFamily="34" charset="0"/>
                <a:ea typeface="Georgia" pitchFamily="34" charset="-122"/>
                <a:cs typeface="Georgia" pitchFamily="34" charset="-120"/>
              </a:rPr>
              <a:t>Safety Guidelines</a:t>
            </a:r>
            <a:endParaRPr lang="en-US" sz="2800" dirty="0"/>
          </a:p>
        </p:txBody>
      </p:sp>
      <p:sp>
        <p:nvSpPr>
          <p:cNvPr id="5" name="Shape 3"/>
          <p:cNvSpPr/>
          <p:nvPr/>
        </p:nvSpPr>
        <p:spPr>
          <a:xfrm>
            <a:off x="457200" y="1188720"/>
            <a:ext cx="11247120" cy="1188720"/>
          </a:xfrm>
          <a:prstGeom prst="roundRect">
            <a:avLst>
              <a:gd name="adj" fmla="val 7692"/>
            </a:avLst>
          </a:prstGeom>
          <a:solidFill>
            <a:srgbClr val="BF1120"/>
          </a:solidFill>
          <a:ln/>
        </p:spPr>
      </p:sp>
      <p:sp>
        <p:nvSpPr>
          <p:cNvPr id="6" name="Text 4"/>
          <p:cNvSpPr/>
          <p:nvPr/>
        </p:nvSpPr>
        <p:spPr>
          <a:xfrm>
            <a:off x="731520" y="1280160"/>
            <a:ext cx="10058400" cy="274320"/>
          </a:xfrm>
          <a:prstGeom prst="rect">
            <a:avLst/>
          </a:prstGeom>
          <a:noFill/>
          <a:ln/>
        </p:spPr>
        <p:txBody>
          <a:bodyPr wrap="square" rtlCol="0" anchor="ctr"/>
          <a:lstStyle/>
          <a:p>
            <a:pPr indent="0" marL="0">
              <a:buNone/>
            </a:pPr>
            <a:r>
              <a:rPr lang="en-US" sz="1000" b="1" spc="150" kern="0" dirty="0">
                <a:solidFill>
                  <a:srgbClr val="FFFFFF"/>
                </a:solidFill>
                <a:latin typeface="Courier New" pitchFamily="34" charset="0"/>
                <a:ea typeface="Courier New" pitchFamily="34" charset="-122"/>
                <a:cs typeface="Courier New" pitchFamily="34" charset="-120"/>
              </a:rPr>
              <a:t>⚠️  FLORIDA LAW — CALL 811 BEFORE EVERY DIG</a:t>
            </a:r>
            <a:endParaRPr lang="en-US" sz="1000" dirty="0"/>
          </a:p>
        </p:txBody>
      </p:sp>
      <p:sp>
        <p:nvSpPr>
          <p:cNvPr id="7" name="Text 5"/>
          <p:cNvSpPr/>
          <p:nvPr/>
        </p:nvSpPr>
        <p:spPr>
          <a:xfrm>
            <a:off x="731520" y="1600200"/>
            <a:ext cx="10515600" cy="640080"/>
          </a:xfrm>
          <a:prstGeom prst="rect">
            <a:avLst/>
          </a:prstGeom>
          <a:noFill/>
          <a:ln/>
        </p:spPr>
        <p:txBody>
          <a:bodyPr wrap="square" rtlCol="0" anchor="ctr"/>
          <a:lstStyle/>
          <a:p>
            <a:pPr indent="0" marL="0">
              <a:lnSpc>
                <a:spcPct val="130000"/>
              </a:lnSpc>
              <a:buNone/>
            </a:pPr>
            <a:r>
              <a:rPr lang="en-US" sz="1000" dirty="0">
                <a:solidFill>
                  <a:srgbClr val="FFFFFF"/>
                </a:solidFill>
                <a:latin typeface="Calibri" pitchFamily="34" charset="0"/>
                <a:ea typeface="Calibri" pitchFamily="34" charset="-122"/>
                <a:cs typeface="Calibri" pitchFamily="34" charset="-120"/>
              </a:rPr>
              <a:t>Florida Statute 556 requires calling 811 before any ground penetration — no exceptions. The office coordinates during permitting, but every crew member must verbally confirm before any post hole digger touches the ground.</a:t>
            </a:r>
            <a:endParaRPr lang="en-US" sz="1000" dirty="0"/>
          </a:p>
        </p:txBody>
      </p:sp>
      <p:sp>
        <p:nvSpPr>
          <p:cNvPr id="8" name="Shape 6"/>
          <p:cNvSpPr/>
          <p:nvPr/>
        </p:nvSpPr>
        <p:spPr>
          <a:xfrm>
            <a:off x="457200" y="2651760"/>
            <a:ext cx="2697480" cy="2560320"/>
          </a:xfrm>
          <a:prstGeom prst="roundRect">
            <a:avLst>
              <a:gd name="adj" fmla="val 2857"/>
            </a:avLst>
          </a:prstGeom>
          <a:solidFill>
            <a:srgbClr val="EEF3F8"/>
          </a:solidFill>
          <a:ln w="6350">
            <a:solidFill>
              <a:srgbClr val="D8DCE4"/>
            </a:solidFill>
            <a:prstDash val="solid"/>
          </a:ln>
        </p:spPr>
      </p:sp>
      <p:sp>
        <p:nvSpPr>
          <p:cNvPr id="9" name="Text 7"/>
          <p:cNvSpPr/>
          <p:nvPr/>
        </p:nvSpPr>
        <p:spPr>
          <a:xfrm>
            <a:off x="640080" y="2880360"/>
            <a:ext cx="2331720" cy="320040"/>
          </a:xfrm>
          <a:prstGeom prst="rect">
            <a:avLst/>
          </a:prstGeom>
          <a:noFill/>
          <a:ln/>
        </p:spPr>
        <p:txBody>
          <a:bodyPr wrap="square" rtlCol="0" anchor="ctr"/>
          <a:lstStyle/>
          <a:p>
            <a:pPr indent="0" marL="0">
              <a:buNone/>
            </a:pPr>
            <a:r>
              <a:rPr lang="en-US" sz="1500" b="1" dirty="0">
                <a:solidFill>
                  <a:srgbClr val="162234"/>
                </a:solidFill>
                <a:latin typeface="Georgia" pitchFamily="34" charset="0"/>
                <a:ea typeface="Georgia" pitchFamily="34" charset="-122"/>
                <a:cs typeface="Georgia" pitchFamily="34" charset="-120"/>
              </a:rPr>
              <a:t>Required PPE</a:t>
            </a:r>
            <a:endParaRPr lang="en-US" sz="1500" dirty="0"/>
          </a:p>
        </p:txBody>
      </p:sp>
      <p:sp>
        <p:nvSpPr>
          <p:cNvPr id="10" name="Text 8"/>
          <p:cNvSpPr/>
          <p:nvPr/>
        </p:nvSpPr>
        <p:spPr>
          <a:xfrm>
            <a:off x="640080" y="3291840"/>
            <a:ext cx="2331720" cy="1645920"/>
          </a:xfrm>
          <a:prstGeom prst="rect">
            <a:avLst/>
          </a:prstGeom>
          <a:noFill/>
          <a:ln/>
        </p:spPr>
        <p:txBody>
          <a:bodyPr wrap="square" rtlCol="0" anchor="ctr"/>
          <a:lstStyle/>
          <a:p>
            <a:pPr indent="0" marL="0">
              <a:lnSpc>
                <a:spcPct val="140000"/>
              </a:lnSpc>
              <a:buNone/>
            </a:pPr>
            <a:r>
              <a:rPr lang="en-US" sz="1000" dirty="0">
                <a:solidFill>
                  <a:srgbClr val="5E6A7A"/>
                </a:solidFill>
                <a:latin typeface="Calibri" pitchFamily="34" charset="0"/>
                <a:ea typeface="Calibri" pitchFamily="34" charset="-122"/>
                <a:cs typeface="Calibri" pitchFamily="34" charset="-120"/>
              </a:rPr>
              <a:t>Steel-toed boots, safety glasses, gloves, high-vis vest near roadways. Not optional.</a:t>
            </a:r>
            <a:endParaRPr lang="en-US" sz="1000" dirty="0"/>
          </a:p>
        </p:txBody>
      </p:sp>
      <p:sp>
        <p:nvSpPr>
          <p:cNvPr id="11" name="Shape 9"/>
          <p:cNvSpPr/>
          <p:nvPr/>
        </p:nvSpPr>
        <p:spPr>
          <a:xfrm>
            <a:off x="3291840" y="2651760"/>
            <a:ext cx="2697480" cy="2560320"/>
          </a:xfrm>
          <a:prstGeom prst="roundRect">
            <a:avLst>
              <a:gd name="adj" fmla="val 2857"/>
            </a:avLst>
          </a:prstGeom>
          <a:solidFill>
            <a:srgbClr val="EEF3F8"/>
          </a:solidFill>
          <a:ln w="6350">
            <a:solidFill>
              <a:srgbClr val="D8DCE4"/>
            </a:solidFill>
            <a:prstDash val="solid"/>
          </a:ln>
        </p:spPr>
      </p:sp>
      <p:sp>
        <p:nvSpPr>
          <p:cNvPr id="12" name="Text 10"/>
          <p:cNvSpPr/>
          <p:nvPr/>
        </p:nvSpPr>
        <p:spPr>
          <a:xfrm>
            <a:off x="3474720" y="2880360"/>
            <a:ext cx="2331720" cy="320040"/>
          </a:xfrm>
          <a:prstGeom prst="rect">
            <a:avLst/>
          </a:prstGeom>
          <a:noFill/>
          <a:ln/>
        </p:spPr>
        <p:txBody>
          <a:bodyPr wrap="square" rtlCol="0" anchor="ctr"/>
          <a:lstStyle/>
          <a:p>
            <a:pPr indent="0" marL="0">
              <a:buNone/>
            </a:pPr>
            <a:r>
              <a:rPr lang="en-US" sz="1500" b="1" dirty="0">
                <a:solidFill>
                  <a:srgbClr val="162234"/>
                </a:solidFill>
                <a:latin typeface="Georgia" pitchFamily="34" charset="0"/>
                <a:ea typeface="Georgia" pitchFamily="34" charset="-122"/>
                <a:cs typeface="Georgia" pitchFamily="34" charset="-120"/>
              </a:rPr>
              <a:t>Heat &amp; Weather</a:t>
            </a:r>
            <a:endParaRPr lang="en-US" sz="1500" dirty="0"/>
          </a:p>
        </p:txBody>
      </p:sp>
      <p:sp>
        <p:nvSpPr>
          <p:cNvPr id="13" name="Text 11"/>
          <p:cNvSpPr/>
          <p:nvPr/>
        </p:nvSpPr>
        <p:spPr>
          <a:xfrm>
            <a:off x="3474720" y="3291840"/>
            <a:ext cx="2331720" cy="1645920"/>
          </a:xfrm>
          <a:prstGeom prst="rect">
            <a:avLst/>
          </a:prstGeom>
          <a:noFill/>
          <a:ln/>
        </p:spPr>
        <p:txBody>
          <a:bodyPr wrap="square" rtlCol="0" anchor="ctr"/>
          <a:lstStyle/>
          <a:p>
            <a:pPr indent="0" marL="0">
              <a:lnSpc>
                <a:spcPct val="140000"/>
              </a:lnSpc>
              <a:buNone/>
            </a:pPr>
            <a:r>
              <a:rPr lang="en-US" sz="1000" dirty="0">
                <a:solidFill>
                  <a:srgbClr val="5E6A7A"/>
                </a:solidFill>
                <a:latin typeface="Calibri" pitchFamily="34" charset="0"/>
                <a:ea typeface="Calibri" pitchFamily="34" charset="-122"/>
                <a:cs typeface="Calibri" pitchFamily="34" charset="-120"/>
              </a:rPr>
              <a:t>Hydrate constantly. Lightning within 10 miles stops the job. Look out for your crew.</a:t>
            </a:r>
            <a:endParaRPr lang="en-US" sz="1000" dirty="0"/>
          </a:p>
        </p:txBody>
      </p:sp>
      <p:sp>
        <p:nvSpPr>
          <p:cNvPr id="14" name="Shape 12"/>
          <p:cNvSpPr/>
          <p:nvPr/>
        </p:nvSpPr>
        <p:spPr>
          <a:xfrm>
            <a:off x="6126480" y="2651760"/>
            <a:ext cx="2697480" cy="2560320"/>
          </a:xfrm>
          <a:prstGeom prst="roundRect">
            <a:avLst>
              <a:gd name="adj" fmla="val 2857"/>
            </a:avLst>
          </a:prstGeom>
          <a:solidFill>
            <a:srgbClr val="EEF3F8"/>
          </a:solidFill>
          <a:ln w="6350">
            <a:solidFill>
              <a:srgbClr val="D8DCE4"/>
            </a:solidFill>
            <a:prstDash val="solid"/>
          </a:ln>
        </p:spPr>
      </p:sp>
      <p:sp>
        <p:nvSpPr>
          <p:cNvPr id="15" name="Text 13"/>
          <p:cNvSpPr/>
          <p:nvPr/>
        </p:nvSpPr>
        <p:spPr>
          <a:xfrm>
            <a:off x="6309360" y="2880360"/>
            <a:ext cx="2331720" cy="320040"/>
          </a:xfrm>
          <a:prstGeom prst="rect">
            <a:avLst/>
          </a:prstGeom>
          <a:noFill/>
          <a:ln/>
        </p:spPr>
        <p:txBody>
          <a:bodyPr wrap="square" rtlCol="0" anchor="ctr"/>
          <a:lstStyle/>
          <a:p>
            <a:pPr indent="0" marL="0">
              <a:buNone/>
            </a:pPr>
            <a:r>
              <a:rPr lang="en-US" sz="1500" b="1" dirty="0">
                <a:solidFill>
                  <a:srgbClr val="162234"/>
                </a:solidFill>
                <a:latin typeface="Georgia" pitchFamily="34" charset="0"/>
                <a:ea typeface="Georgia" pitchFamily="34" charset="-122"/>
                <a:cs typeface="Georgia" pitchFamily="34" charset="-120"/>
              </a:rPr>
              <a:t>Equipment Safety</a:t>
            </a:r>
            <a:endParaRPr lang="en-US" sz="1500" dirty="0"/>
          </a:p>
        </p:txBody>
      </p:sp>
      <p:sp>
        <p:nvSpPr>
          <p:cNvPr id="16" name="Text 14"/>
          <p:cNvSpPr/>
          <p:nvPr/>
        </p:nvSpPr>
        <p:spPr>
          <a:xfrm>
            <a:off x="6309360" y="3291840"/>
            <a:ext cx="2331720" cy="1645920"/>
          </a:xfrm>
          <a:prstGeom prst="rect">
            <a:avLst/>
          </a:prstGeom>
          <a:noFill/>
          <a:ln/>
        </p:spPr>
        <p:txBody>
          <a:bodyPr wrap="square" rtlCol="0" anchor="ctr"/>
          <a:lstStyle/>
          <a:p>
            <a:pPr indent="0" marL="0">
              <a:lnSpc>
                <a:spcPct val="140000"/>
              </a:lnSpc>
              <a:buNone/>
            </a:pPr>
            <a:r>
              <a:rPr lang="en-US" sz="1000" dirty="0">
                <a:solidFill>
                  <a:srgbClr val="5E6A7A"/>
                </a:solidFill>
                <a:latin typeface="Calibri" pitchFamily="34" charset="0"/>
                <a:ea typeface="Calibri" pitchFamily="34" charset="-122"/>
                <a:cs typeface="Calibri" pitchFamily="34" charset="-120"/>
              </a:rPr>
              <a:t>Inspect tools before use. Report defects immediately. Augers require two-person handling.</a:t>
            </a:r>
            <a:endParaRPr lang="en-US" sz="1000" dirty="0"/>
          </a:p>
        </p:txBody>
      </p:sp>
      <p:sp>
        <p:nvSpPr>
          <p:cNvPr id="17" name="Shape 15"/>
          <p:cNvSpPr/>
          <p:nvPr/>
        </p:nvSpPr>
        <p:spPr>
          <a:xfrm>
            <a:off x="8961120" y="2651760"/>
            <a:ext cx="2697480" cy="2560320"/>
          </a:xfrm>
          <a:prstGeom prst="roundRect">
            <a:avLst>
              <a:gd name="adj" fmla="val 2857"/>
            </a:avLst>
          </a:prstGeom>
          <a:solidFill>
            <a:srgbClr val="EEF3F8"/>
          </a:solidFill>
          <a:ln w="6350">
            <a:solidFill>
              <a:srgbClr val="D8DCE4"/>
            </a:solidFill>
            <a:prstDash val="solid"/>
          </a:ln>
        </p:spPr>
      </p:sp>
      <p:sp>
        <p:nvSpPr>
          <p:cNvPr id="18" name="Text 16"/>
          <p:cNvSpPr/>
          <p:nvPr/>
        </p:nvSpPr>
        <p:spPr>
          <a:xfrm>
            <a:off x="9144000" y="2880360"/>
            <a:ext cx="2331720" cy="320040"/>
          </a:xfrm>
          <a:prstGeom prst="rect">
            <a:avLst/>
          </a:prstGeom>
          <a:noFill/>
          <a:ln/>
        </p:spPr>
        <p:txBody>
          <a:bodyPr wrap="square" rtlCol="0" anchor="ctr"/>
          <a:lstStyle/>
          <a:p>
            <a:pPr indent="0" marL="0">
              <a:buNone/>
            </a:pPr>
            <a:r>
              <a:rPr lang="en-US" sz="1500" b="1" dirty="0">
                <a:solidFill>
                  <a:srgbClr val="162234"/>
                </a:solidFill>
                <a:latin typeface="Georgia" pitchFamily="34" charset="0"/>
                <a:ea typeface="Georgia" pitchFamily="34" charset="-122"/>
                <a:cs typeface="Georgia" pitchFamily="34" charset="-120"/>
              </a:rPr>
              <a:t>Incident Reporting</a:t>
            </a:r>
            <a:endParaRPr lang="en-US" sz="1500" dirty="0"/>
          </a:p>
        </p:txBody>
      </p:sp>
      <p:sp>
        <p:nvSpPr>
          <p:cNvPr id="19" name="Text 17"/>
          <p:cNvSpPr/>
          <p:nvPr/>
        </p:nvSpPr>
        <p:spPr>
          <a:xfrm>
            <a:off x="9144000" y="3291840"/>
            <a:ext cx="2331720" cy="1645920"/>
          </a:xfrm>
          <a:prstGeom prst="rect">
            <a:avLst/>
          </a:prstGeom>
          <a:noFill/>
          <a:ln/>
        </p:spPr>
        <p:txBody>
          <a:bodyPr wrap="square" rtlCol="0" anchor="ctr"/>
          <a:lstStyle/>
          <a:p>
            <a:pPr indent="0" marL="0">
              <a:lnSpc>
                <a:spcPct val="140000"/>
              </a:lnSpc>
              <a:buNone/>
            </a:pPr>
            <a:r>
              <a:rPr lang="en-US" sz="1000" dirty="0">
                <a:solidFill>
                  <a:srgbClr val="5E6A7A"/>
                </a:solidFill>
                <a:latin typeface="Calibri" pitchFamily="34" charset="0"/>
                <a:ea typeface="Calibri" pitchFamily="34" charset="-122"/>
                <a:cs typeface="Calibri" pitchFamily="34" charset="-120"/>
              </a:rPr>
              <a:t>Any injury, near-miss, or property damage — even minor — reported immediately and logged same day.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BF1120"/>
          </a:solidFill>
          <a:ln/>
        </p:spPr>
      </p:sp>
      <p:sp>
        <p:nvSpPr>
          <p:cNvPr id="3" name="Text 1"/>
          <p:cNvSpPr/>
          <p:nvPr/>
        </p:nvSpPr>
        <p:spPr>
          <a:xfrm>
            <a:off x="457200" y="274320"/>
            <a:ext cx="365760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08  30 / 60 / 90 DAY PLAN</a:t>
            </a:r>
            <a:endParaRPr lang="en-US" sz="800" dirty="0"/>
          </a:p>
        </p:txBody>
      </p:sp>
      <p:sp>
        <p:nvSpPr>
          <p:cNvPr id="4" name="Text 2"/>
          <p:cNvSpPr/>
          <p:nvPr/>
        </p:nvSpPr>
        <p:spPr>
          <a:xfrm>
            <a:off x="457200" y="548640"/>
            <a:ext cx="7315200" cy="457200"/>
          </a:xfrm>
          <a:prstGeom prst="rect">
            <a:avLst/>
          </a:prstGeom>
          <a:noFill/>
          <a:ln/>
        </p:spPr>
        <p:txBody>
          <a:bodyPr wrap="square" rtlCol="0" anchor="ctr"/>
          <a:lstStyle/>
          <a:p>
            <a:pPr indent="0" marL="0">
              <a:buNone/>
            </a:pPr>
            <a:r>
              <a:rPr lang="en-US" sz="2800" b="1" dirty="0">
                <a:solidFill>
                  <a:srgbClr val="162234"/>
                </a:solidFill>
                <a:latin typeface="Georgia" pitchFamily="34" charset="0"/>
                <a:ea typeface="Georgia" pitchFamily="34" charset="-122"/>
                <a:cs typeface="Georgia" pitchFamily="34" charset="-120"/>
              </a:rPr>
              <a:t>30 / 60 / 90 Day Plan</a:t>
            </a:r>
            <a:endParaRPr lang="en-US" sz="2800" dirty="0"/>
          </a:p>
        </p:txBody>
      </p:sp>
      <p:sp>
        <p:nvSpPr>
          <p:cNvPr id="5" name="Shape 3"/>
          <p:cNvSpPr/>
          <p:nvPr/>
        </p:nvSpPr>
        <p:spPr>
          <a:xfrm>
            <a:off x="457200" y="1280160"/>
            <a:ext cx="3611880" cy="4754880"/>
          </a:xfrm>
          <a:prstGeom prst="roundRect">
            <a:avLst>
              <a:gd name="adj" fmla="val 2025"/>
            </a:avLst>
          </a:prstGeom>
          <a:solidFill>
            <a:srgbClr val="EEF3F8"/>
          </a:solidFill>
          <a:ln w="6350">
            <a:solidFill>
              <a:srgbClr val="D8DCE4"/>
            </a:solidFill>
            <a:prstDash val="solid"/>
          </a:ln>
        </p:spPr>
      </p:sp>
      <p:sp>
        <p:nvSpPr>
          <p:cNvPr id="6" name="Shape 4"/>
          <p:cNvSpPr/>
          <p:nvPr/>
        </p:nvSpPr>
        <p:spPr>
          <a:xfrm>
            <a:off x="457200" y="1280160"/>
            <a:ext cx="3611880" cy="822960"/>
          </a:xfrm>
          <a:prstGeom prst="rect">
            <a:avLst/>
          </a:prstGeom>
          <a:solidFill>
            <a:srgbClr val="1B2A3B"/>
          </a:solidFill>
          <a:ln/>
        </p:spPr>
      </p:sp>
      <p:sp>
        <p:nvSpPr>
          <p:cNvPr id="7" name="Text 5"/>
          <p:cNvSpPr/>
          <p:nvPr/>
        </p:nvSpPr>
        <p:spPr>
          <a:xfrm>
            <a:off x="640080" y="1371600"/>
            <a:ext cx="324612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DAYS 1–30</a:t>
            </a:r>
            <a:endParaRPr lang="en-US" sz="800" dirty="0"/>
          </a:p>
        </p:txBody>
      </p:sp>
      <p:sp>
        <p:nvSpPr>
          <p:cNvPr id="8" name="Text 6"/>
          <p:cNvSpPr/>
          <p:nvPr/>
        </p:nvSpPr>
        <p:spPr>
          <a:xfrm>
            <a:off x="640080" y="1645920"/>
            <a:ext cx="3246120" cy="36576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Learn</a:t>
            </a:r>
            <a:endParaRPr lang="en-US" sz="1800" dirty="0"/>
          </a:p>
        </p:txBody>
      </p:sp>
      <p:sp>
        <p:nvSpPr>
          <p:cNvPr id="9" name="Text 7"/>
          <p:cNvSpPr/>
          <p:nvPr/>
        </p:nvSpPr>
        <p:spPr>
          <a:xfrm>
            <a:off x="640080" y="228600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Complete all orientation paperwork</a:t>
            </a:r>
            <a:endParaRPr lang="en-US" sz="950" dirty="0"/>
          </a:p>
        </p:txBody>
      </p:sp>
      <p:sp>
        <p:nvSpPr>
          <p:cNvPr id="10" name="Text 8"/>
          <p:cNvSpPr/>
          <p:nvPr/>
        </p:nvSpPr>
        <p:spPr>
          <a:xfrm>
            <a:off x="640080" y="278892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Shadow experienced crew on 3–5 jobs</a:t>
            </a:r>
            <a:endParaRPr lang="en-US" sz="950" dirty="0"/>
          </a:p>
        </p:txBody>
      </p:sp>
      <p:sp>
        <p:nvSpPr>
          <p:cNvPr id="11" name="Text 9"/>
          <p:cNvSpPr/>
          <p:nvPr/>
        </p:nvSpPr>
        <p:spPr>
          <a:xfrm>
            <a:off x="640080" y="329184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Learn installation standards</a:t>
            </a:r>
            <a:endParaRPr lang="en-US" sz="950" dirty="0"/>
          </a:p>
        </p:txBody>
      </p:sp>
      <p:sp>
        <p:nvSpPr>
          <p:cNvPr id="12" name="Text 10"/>
          <p:cNvSpPr/>
          <p:nvPr/>
        </p:nvSpPr>
        <p:spPr>
          <a:xfrm>
            <a:off x="640080" y="379476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Onboard to all 9 apps</a:t>
            </a:r>
            <a:endParaRPr lang="en-US" sz="950" dirty="0"/>
          </a:p>
        </p:txBody>
      </p:sp>
      <p:sp>
        <p:nvSpPr>
          <p:cNvPr id="13" name="Text 11"/>
          <p:cNvSpPr/>
          <p:nvPr/>
        </p:nvSpPr>
        <p:spPr>
          <a:xfrm>
            <a:off x="640080" y="429768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Log Company Cam photos every job</a:t>
            </a:r>
            <a:endParaRPr lang="en-US" sz="950" dirty="0"/>
          </a:p>
        </p:txBody>
      </p:sp>
      <p:sp>
        <p:nvSpPr>
          <p:cNvPr id="14" name="Text 12"/>
          <p:cNvSpPr/>
          <p:nvPr/>
        </p:nvSpPr>
        <p:spPr>
          <a:xfrm>
            <a:off x="640080" y="480060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PPE compliance daily</a:t>
            </a:r>
            <a:endParaRPr lang="en-US" sz="950" dirty="0"/>
          </a:p>
        </p:txBody>
      </p:sp>
      <p:sp>
        <p:nvSpPr>
          <p:cNvPr id="15" name="Text 13"/>
          <p:cNvSpPr/>
          <p:nvPr/>
        </p:nvSpPr>
        <p:spPr>
          <a:xfrm>
            <a:off x="640080" y="530352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30-day supervisor check-in</a:t>
            </a:r>
            <a:endParaRPr lang="en-US" sz="950" dirty="0"/>
          </a:p>
        </p:txBody>
      </p:sp>
      <p:sp>
        <p:nvSpPr>
          <p:cNvPr id="16" name="Shape 14"/>
          <p:cNvSpPr/>
          <p:nvPr/>
        </p:nvSpPr>
        <p:spPr>
          <a:xfrm>
            <a:off x="4206240" y="1280160"/>
            <a:ext cx="3611880" cy="4754880"/>
          </a:xfrm>
          <a:prstGeom prst="roundRect">
            <a:avLst>
              <a:gd name="adj" fmla="val 2025"/>
            </a:avLst>
          </a:prstGeom>
          <a:solidFill>
            <a:srgbClr val="EEF3F8"/>
          </a:solidFill>
          <a:ln w="6350">
            <a:solidFill>
              <a:srgbClr val="D8DCE4"/>
            </a:solidFill>
            <a:prstDash val="solid"/>
          </a:ln>
        </p:spPr>
      </p:sp>
      <p:sp>
        <p:nvSpPr>
          <p:cNvPr id="17" name="Shape 15"/>
          <p:cNvSpPr/>
          <p:nvPr/>
        </p:nvSpPr>
        <p:spPr>
          <a:xfrm>
            <a:off x="4206240" y="1280160"/>
            <a:ext cx="3611880" cy="822960"/>
          </a:xfrm>
          <a:prstGeom prst="rect">
            <a:avLst/>
          </a:prstGeom>
          <a:solidFill>
            <a:srgbClr val="1B2A3B"/>
          </a:solidFill>
          <a:ln/>
        </p:spPr>
      </p:sp>
      <p:sp>
        <p:nvSpPr>
          <p:cNvPr id="18" name="Text 16"/>
          <p:cNvSpPr/>
          <p:nvPr/>
        </p:nvSpPr>
        <p:spPr>
          <a:xfrm>
            <a:off x="4389120" y="1371600"/>
            <a:ext cx="324612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DAYS 31–60</a:t>
            </a:r>
            <a:endParaRPr lang="en-US" sz="800" dirty="0"/>
          </a:p>
        </p:txBody>
      </p:sp>
      <p:sp>
        <p:nvSpPr>
          <p:cNvPr id="19" name="Text 17"/>
          <p:cNvSpPr/>
          <p:nvPr/>
        </p:nvSpPr>
        <p:spPr>
          <a:xfrm>
            <a:off x="4389120" y="1645920"/>
            <a:ext cx="3246120" cy="36576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Execute</a:t>
            </a:r>
            <a:endParaRPr lang="en-US" sz="1800" dirty="0"/>
          </a:p>
        </p:txBody>
      </p:sp>
      <p:sp>
        <p:nvSpPr>
          <p:cNvPr id="20" name="Text 18"/>
          <p:cNvSpPr/>
          <p:nvPr/>
        </p:nvSpPr>
        <p:spPr>
          <a:xfrm>
            <a:off x="4389120" y="228600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Lead install sections supervised</a:t>
            </a:r>
            <a:endParaRPr lang="en-US" sz="950" dirty="0"/>
          </a:p>
        </p:txBody>
      </p:sp>
      <p:sp>
        <p:nvSpPr>
          <p:cNvPr id="21" name="Text 19"/>
          <p:cNvSpPr/>
          <p:nvPr/>
        </p:nvSpPr>
        <p:spPr>
          <a:xfrm>
            <a:off x="4389120" y="278892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JotForm entries without prompting</a:t>
            </a:r>
            <a:endParaRPr lang="en-US" sz="950" dirty="0"/>
          </a:p>
        </p:txBody>
      </p:sp>
      <p:sp>
        <p:nvSpPr>
          <p:cNvPr id="22" name="Text 20"/>
          <p:cNvSpPr/>
          <p:nvPr/>
        </p:nvSpPr>
        <p:spPr>
          <a:xfrm>
            <a:off x="4389120" y="329184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Active Knocker D2D workflow</a:t>
            </a:r>
            <a:endParaRPr lang="en-US" sz="950" dirty="0"/>
          </a:p>
        </p:txBody>
      </p:sp>
      <p:sp>
        <p:nvSpPr>
          <p:cNvPr id="23" name="Text 21"/>
          <p:cNvSpPr/>
          <p:nvPr/>
        </p:nvSpPr>
        <p:spPr>
          <a:xfrm>
            <a:off x="4389120" y="379476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Hit productivity benchmarks</a:t>
            </a:r>
            <a:endParaRPr lang="en-US" sz="950" dirty="0"/>
          </a:p>
        </p:txBody>
      </p:sp>
      <p:sp>
        <p:nvSpPr>
          <p:cNvPr id="24" name="Text 22"/>
          <p:cNvSpPr/>
          <p:nvPr/>
        </p:nvSpPr>
        <p:spPr>
          <a:xfrm>
            <a:off x="4389120" y="429768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Customer-facing professionalism</a:t>
            </a:r>
            <a:endParaRPr lang="en-US" sz="950" dirty="0"/>
          </a:p>
        </p:txBody>
      </p:sp>
      <p:sp>
        <p:nvSpPr>
          <p:cNvPr id="25" name="Text 23"/>
          <p:cNvSpPr/>
          <p:nvPr/>
        </p:nvSpPr>
        <p:spPr>
          <a:xfrm>
            <a:off x="4389120" y="480060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60-day formal evaluation</a:t>
            </a:r>
            <a:endParaRPr lang="en-US" sz="950" dirty="0"/>
          </a:p>
        </p:txBody>
      </p:sp>
      <p:sp>
        <p:nvSpPr>
          <p:cNvPr id="26" name="Shape 24"/>
          <p:cNvSpPr/>
          <p:nvPr/>
        </p:nvSpPr>
        <p:spPr>
          <a:xfrm>
            <a:off x="7955280" y="1280160"/>
            <a:ext cx="3611880" cy="4754880"/>
          </a:xfrm>
          <a:prstGeom prst="roundRect">
            <a:avLst>
              <a:gd name="adj" fmla="val 2025"/>
            </a:avLst>
          </a:prstGeom>
          <a:solidFill>
            <a:srgbClr val="EEF3F8"/>
          </a:solidFill>
          <a:ln w="6350">
            <a:solidFill>
              <a:srgbClr val="D8DCE4"/>
            </a:solidFill>
            <a:prstDash val="solid"/>
          </a:ln>
        </p:spPr>
      </p:sp>
      <p:sp>
        <p:nvSpPr>
          <p:cNvPr id="27" name="Shape 25"/>
          <p:cNvSpPr/>
          <p:nvPr/>
        </p:nvSpPr>
        <p:spPr>
          <a:xfrm>
            <a:off x="7955280" y="1280160"/>
            <a:ext cx="3611880" cy="822960"/>
          </a:xfrm>
          <a:prstGeom prst="rect">
            <a:avLst/>
          </a:prstGeom>
          <a:solidFill>
            <a:srgbClr val="1B2A3B"/>
          </a:solidFill>
          <a:ln/>
        </p:spPr>
      </p:sp>
      <p:sp>
        <p:nvSpPr>
          <p:cNvPr id="28" name="Text 26"/>
          <p:cNvSpPr/>
          <p:nvPr/>
        </p:nvSpPr>
        <p:spPr>
          <a:xfrm>
            <a:off x="8138160" y="1371600"/>
            <a:ext cx="324612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DAYS 61–90</a:t>
            </a:r>
            <a:endParaRPr lang="en-US" sz="800" dirty="0"/>
          </a:p>
        </p:txBody>
      </p:sp>
      <p:sp>
        <p:nvSpPr>
          <p:cNvPr id="29" name="Text 27"/>
          <p:cNvSpPr/>
          <p:nvPr/>
        </p:nvSpPr>
        <p:spPr>
          <a:xfrm>
            <a:off x="8138160" y="1645920"/>
            <a:ext cx="3246120" cy="36576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Elevate</a:t>
            </a:r>
            <a:endParaRPr lang="en-US" sz="1800" dirty="0"/>
          </a:p>
        </p:txBody>
      </p:sp>
      <p:sp>
        <p:nvSpPr>
          <p:cNvPr id="30" name="Text 28"/>
          <p:cNvSpPr/>
          <p:nvPr/>
        </p:nvSpPr>
        <p:spPr>
          <a:xfrm>
            <a:off x="8138160" y="228600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Fully independent on standard installs</a:t>
            </a:r>
            <a:endParaRPr lang="en-US" sz="950" dirty="0"/>
          </a:p>
        </p:txBody>
      </p:sp>
      <p:sp>
        <p:nvSpPr>
          <p:cNvPr id="31" name="Text 29"/>
          <p:cNvSpPr/>
          <p:nvPr/>
        </p:nvSpPr>
        <p:spPr>
          <a:xfrm>
            <a:off x="8138160" y="278892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Identifying quality issues proactively</a:t>
            </a:r>
            <a:endParaRPr lang="en-US" sz="950" dirty="0"/>
          </a:p>
        </p:txBody>
      </p:sp>
      <p:sp>
        <p:nvSpPr>
          <p:cNvPr id="32" name="Text 30"/>
          <p:cNvSpPr/>
          <p:nvPr/>
        </p:nvSpPr>
        <p:spPr>
          <a:xfrm>
            <a:off x="8138160" y="329184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Mentoring newer teammates</a:t>
            </a:r>
            <a:endParaRPr lang="en-US" sz="950" dirty="0"/>
          </a:p>
        </p:txBody>
      </p:sp>
      <p:sp>
        <p:nvSpPr>
          <p:cNvPr id="33" name="Text 31"/>
          <p:cNvSpPr/>
          <p:nvPr/>
        </p:nvSpPr>
        <p:spPr>
          <a:xfrm>
            <a:off x="8138160" y="379476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Crew lead track conversation</a:t>
            </a:r>
            <a:endParaRPr lang="en-US" sz="950" dirty="0"/>
          </a:p>
        </p:txBody>
      </p:sp>
      <p:sp>
        <p:nvSpPr>
          <p:cNvPr id="34" name="Text 32"/>
          <p:cNvSpPr/>
          <p:nvPr/>
        </p:nvSpPr>
        <p:spPr>
          <a:xfrm>
            <a:off x="8138160" y="429768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90-day review &amp; compensation</a:t>
            </a:r>
            <a:endParaRPr lang="en-US" sz="950" dirty="0"/>
          </a:p>
        </p:txBody>
      </p:sp>
      <p:sp>
        <p:nvSpPr>
          <p:cNvPr id="35" name="Text 33"/>
          <p:cNvSpPr/>
          <p:nvPr/>
        </p:nvSpPr>
        <p:spPr>
          <a:xfrm>
            <a:off x="8138160" y="480060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Eligible for performance incentives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BF1120"/>
          </a:solidFill>
          <a:ln/>
        </p:spPr>
      </p:sp>
      <p:sp>
        <p:nvSpPr>
          <p:cNvPr id="3" name="Text 1"/>
          <p:cNvSpPr/>
          <p:nvPr/>
        </p:nvSpPr>
        <p:spPr>
          <a:xfrm>
            <a:off x="457200" y="274320"/>
            <a:ext cx="365760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11  TECH STACK &amp; TOOLS</a:t>
            </a:r>
            <a:endParaRPr lang="en-US" sz="800" dirty="0"/>
          </a:p>
        </p:txBody>
      </p:sp>
      <p:sp>
        <p:nvSpPr>
          <p:cNvPr id="4" name="Text 2"/>
          <p:cNvSpPr/>
          <p:nvPr/>
        </p:nvSpPr>
        <p:spPr>
          <a:xfrm>
            <a:off x="457200" y="548640"/>
            <a:ext cx="7315200" cy="457200"/>
          </a:xfrm>
          <a:prstGeom prst="rect">
            <a:avLst/>
          </a:prstGeom>
          <a:noFill/>
          <a:ln/>
        </p:spPr>
        <p:txBody>
          <a:bodyPr wrap="square" rtlCol="0" anchor="ctr"/>
          <a:lstStyle/>
          <a:p>
            <a:pPr indent="0" marL="0">
              <a:buNone/>
            </a:pPr>
            <a:r>
              <a:rPr lang="en-US" sz="2800" b="1" dirty="0">
                <a:solidFill>
                  <a:srgbClr val="162234"/>
                </a:solidFill>
                <a:latin typeface="Georgia" pitchFamily="34" charset="0"/>
                <a:ea typeface="Georgia" pitchFamily="34" charset="-122"/>
                <a:cs typeface="Georgia" pitchFamily="34" charset="-120"/>
              </a:rPr>
              <a:t>Tech Stack &amp; Tools</a:t>
            </a:r>
            <a:endParaRPr lang="en-US" sz="2800" dirty="0"/>
          </a:p>
        </p:txBody>
      </p:sp>
      <p:sp>
        <p:nvSpPr>
          <p:cNvPr id="5" name="Text 3"/>
          <p:cNvSpPr/>
          <p:nvPr/>
        </p:nvSpPr>
        <p:spPr>
          <a:xfrm>
            <a:off x="457200" y="1005840"/>
            <a:ext cx="7315200" cy="274320"/>
          </a:xfrm>
          <a:prstGeom prst="rect">
            <a:avLst/>
          </a:prstGeom>
          <a:noFill/>
          <a:ln/>
        </p:spPr>
        <p:txBody>
          <a:bodyPr wrap="square" rtlCol="0" anchor="ctr"/>
          <a:lstStyle/>
          <a:p>
            <a:pPr indent="0" marL="0">
              <a:buNone/>
            </a:pPr>
            <a:r>
              <a:rPr lang="en-US" sz="1100" i="1" dirty="0">
                <a:solidFill>
                  <a:srgbClr val="5E6A7A"/>
                </a:solidFill>
                <a:latin typeface="Calibri" pitchFamily="34" charset="0"/>
                <a:ea typeface="Calibri" pitchFamily="34" charset="-122"/>
                <a:cs typeface="Calibri" pitchFamily="34" charset="-120"/>
              </a:rPr>
              <a:t>Functional in all 9 platforms by Day 30.</a:t>
            </a:r>
            <a:endParaRPr lang="en-US" sz="1100" dirty="0"/>
          </a:p>
        </p:txBody>
      </p:sp>
      <p:sp>
        <p:nvSpPr>
          <p:cNvPr id="6" name="Shape 4"/>
          <p:cNvSpPr/>
          <p:nvPr/>
        </p:nvSpPr>
        <p:spPr>
          <a:xfrm>
            <a:off x="457200" y="1508760"/>
            <a:ext cx="3474720" cy="1463040"/>
          </a:xfrm>
          <a:prstGeom prst="roundRect">
            <a:avLst>
              <a:gd name="adj" fmla="val 3750"/>
            </a:avLst>
          </a:prstGeom>
          <a:solidFill>
            <a:srgbClr val="EEF3F8"/>
          </a:solidFill>
          <a:ln w="6350">
            <a:solidFill>
              <a:srgbClr val="D8DCE4"/>
            </a:solidFill>
            <a:prstDash val="solid"/>
          </a:ln>
        </p:spPr>
      </p:sp>
      <p:sp>
        <p:nvSpPr>
          <p:cNvPr id="7" name="Shape 5"/>
          <p:cNvSpPr/>
          <p:nvPr/>
        </p:nvSpPr>
        <p:spPr>
          <a:xfrm>
            <a:off x="457200" y="1508760"/>
            <a:ext cx="3474720" cy="54864"/>
          </a:xfrm>
          <a:prstGeom prst="rect">
            <a:avLst/>
          </a:prstGeom>
          <a:solidFill>
            <a:srgbClr val="EA4335"/>
          </a:solidFill>
          <a:ln/>
        </p:spPr>
      </p:sp>
      <p:sp>
        <p:nvSpPr>
          <p:cNvPr id="8" name="Text 6"/>
          <p:cNvSpPr/>
          <p:nvPr/>
        </p:nvSpPr>
        <p:spPr>
          <a:xfrm>
            <a:off x="640080" y="169164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Gmail</a:t>
            </a:r>
            <a:endParaRPr lang="en-US" sz="1400" dirty="0"/>
          </a:p>
        </p:txBody>
      </p:sp>
      <p:sp>
        <p:nvSpPr>
          <p:cNvPr id="9" name="Text 7"/>
          <p:cNvSpPr/>
          <p:nvPr/>
        </p:nvSpPr>
        <p:spPr>
          <a:xfrm>
            <a:off x="640080" y="201168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Primary communication</a:t>
            </a:r>
            <a:endParaRPr lang="en-US" sz="1000" dirty="0"/>
          </a:p>
        </p:txBody>
      </p:sp>
      <p:sp>
        <p:nvSpPr>
          <p:cNvPr id="10" name="Shape 8"/>
          <p:cNvSpPr/>
          <p:nvPr/>
        </p:nvSpPr>
        <p:spPr>
          <a:xfrm>
            <a:off x="640080" y="2560320"/>
            <a:ext cx="914400" cy="256032"/>
          </a:xfrm>
          <a:prstGeom prst="roundRect">
            <a:avLst>
              <a:gd name="adj" fmla="val 14286"/>
            </a:avLst>
          </a:prstGeom>
          <a:solidFill>
            <a:srgbClr val="FBF0F1"/>
          </a:solidFill>
          <a:ln w="6350">
            <a:solidFill>
              <a:srgbClr val="BF1120">
                <a:alpha val="50000"/>
              </a:srgbClr>
            </a:solidFill>
            <a:prstDash val="solid"/>
          </a:ln>
        </p:spPr>
      </p:sp>
      <p:sp>
        <p:nvSpPr>
          <p:cNvPr id="11" name="Text 9"/>
          <p:cNvSpPr/>
          <p:nvPr/>
        </p:nvSpPr>
        <p:spPr>
          <a:xfrm>
            <a:off x="640080" y="2560320"/>
            <a:ext cx="914400" cy="256032"/>
          </a:xfrm>
          <a:prstGeom prst="rect">
            <a:avLst/>
          </a:prstGeom>
          <a:noFill/>
          <a:ln/>
        </p:spPr>
        <p:txBody>
          <a:bodyPr wrap="square" rtlCol="0" anchor="ctr"/>
          <a:lstStyle/>
          <a:p>
            <a:pPr algn="ctr" indent="0" marL="0">
              <a:buNone/>
            </a:pPr>
            <a:r>
              <a:rPr lang="en-US" sz="700" spc="100" kern="0" dirty="0">
                <a:solidFill>
                  <a:srgbClr val="BF1120"/>
                </a:solidFill>
                <a:latin typeface="Courier New" pitchFamily="34" charset="0"/>
                <a:ea typeface="Courier New" pitchFamily="34" charset="-122"/>
                <a:cs typeface="Courier New" pitchFamily="34" charset="-120"/>
              </a:rPr>
              <a:t>REQUIRED</a:t>
            </a:r>
            <a:endParaRPr lang="en-US" sz="700" dirty="0"/>
          </a:p>
        </p:txBody>
      </p:sp>
      <p:sp>
        <p:nvSpPr>
          <p:cNvPr id="12" name="Shape 10"/>
          <p:cNvSpPr/>
          <p:nvPr/>
        </p:nvSpPr>
        <p:spPr>
          <a:xfrm>
            <a:off x="4114800" y="1508760"/>
            <a:ext cx="3474720" cy="1463040"/>
          </a:xfrm>
          <a:prstGeom prst="roundRect">
            <a:avLst>
              <a:gd name="adj" fmla="val 3750"/>
            </a:avLst>
          </a:prstGeom>
          <a:solidFill>
            <a:srgbClr val="EEF3F8"/>
          </a:solidFill>
          <a:ln w="6350">
            <a:solidFill>
              <a:srgbClr val="D8DCE4"/>
            </a:solidFill>
            <a:prstDash val="solid"/>
          </a:ln>
        </p:spPr>
      </p:sp>
      <p:sp>
        <p:nvSpPr>
          <p:cNvPr id="13" name="Shape 11"/>
          <p:cNvSpPr/>
          <p:nvPr/>
        </p:nvSpPr>
        <p:spPr>
          <a:xfrm>
            <a:off x="4114800" y="1508760"/>
            <a:ext cx="3474720" cy="54864"/>
          </a:xfrm>
          <a:prstGeom prst="rect">
            <a:avLst/>
          </a:prstGeom>
          <a:solidFill>
            <a:srgbClr val="1565C0"/>
          </a:solidFill>
          <a:ln/>
        </p:spPr>
      </p:sp>
      <p:sp>
        <p:nvSpPr>
          <p:cNvPr id="14" name="Text 12"/>
          <p:cNvSpPr/>
          <p:nvPr/>
        </p:nvSpPr>
        <p:spPr>
          <a:xfrm>
            <a:off x="4297680" y="169164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Company Cam</a:t>
            </a:r>
            <a:endParaRPr lang="en-US" sz="1400" dirty="0"/>
          </a:p>
        </p:txBody>
      </p:sp>
      <p:sp>
        <p:nvSpPr>
          <p:cNvPr id="15" name="Text 13"/>
          <p:cNvSpPr/>
          <p:nvPr/>
        </p:nvSpPr>
        <p:spPr>
          <a:xfrm>
            <a:off x="4297680" y="201168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Photo documentation</a:t>
            </a:r>
            <a:endParaRPr lang="en-US" sz="1000" dirty="0"/>
          </a:p>
        </p:txBody>
      </p:sp>
      <p:sp>
        <p:nvSpPr>
          <p:cNvPr id="16" name="Shape 14"/>
          <p:cNvSpPr/>
          <p:nvPr/>
        </p:nvSpPr>
        <p:spPr>
          <a:xfrm>
            <a:off x="4297680" y="2560320"/>
            <a:ext cx="914400" cy="256032"/>
          </a:xfrm>
          <a:prstGeom prst="roundRect">
            <a:avLst>
              <a:gd name="adj" fmla="val 14286"/>
            </a:avLst>
          </a:prstGeom>
          <a:solidFill>
            <a:srgbClr val="E8F5EE"/>
          </a:solidFill>
          <a:ln w="6350">
            <a:solidFill>
              <a:srgbClr val="1B6645">
                <a:alpha val="50000"/>
              </a:srgbClr>
            </a:solidFill>
            <a:prstDash val="solid"/>
          </a:ln>
        </p:spPr>
      </p:sp>
      <p:sp>
        <p:nvSpPr>
          <p:cNvPr id="17" name="Text 15"/>
          <p:cNvSpPr/>
          <p:nvPr/>
        </p:nvSpPr>
        <p:spPr>
          <a:xfrm>
            <a:off x="4297680" y="2560320"/>
            <a:ext cx="914400" cy="256032"/>
          </a:xfrm>
          <a:prstGeom prst="rect">
            <a:avLst/>
          </a:prstGeom>
          <a:noFill/>
          <a:ln/>
        </p:spPr>
        <p:txBody>
          <a:bodyPr wrap="square" rtlCol="0" anchor="ctr"/>
          <a:lstStyle/>
          <a:p>
            <a:pPr algn="ctr" indent="0" marL="0">
              <a:buNone/>
            </a:pPr>
            <a:r>
              <a:rPr lang="en-US" sz="700" spc="100" kern="0" dirty="0">
                <a:solidFill>
                  <a:srgbClr val="1B6645"/>
                </a:solidFill>
                <a:latin typeface="Courier New" pitchFamily="34" charset="0"/>
                <a:ea typeface="Courier New" pitchFamily="34" charset="-122"/>
                <a:cs typeface="Courier New" pitchFamily="34" charset="-120"/>
              </a:rPr>
              <a:t>FIELD</a:t>
            </a:r>
            <a:endParaRPr lang="en-US" sz="700" dirty="0"/>
          </a:p>
        </p:txBody>
      </p:sp>
      <p:sp>
        <p:nvSpPr>
          <p:cNvPr id="18" name="Shape 16"/>
          <p:cNvSpPr/>
          <p:nvPr/>
        </p:nvSpPr>
        <p:spPr>
          <a:xfrm>
            <a:off x="7772400" y="1508760"/>
            <a:ext cx="3474720" cy="1463040"/>
          </a:xfrm>
          <a:prstGeom prst="roundRect">
            <a:avLst>
              <a:gd name="adj" fmla="val 3750"/>
            </a:avLst>
          </a:prstGeom>
          <a:solidFill>
            <a:srgbClr val="EEF3F8"/>
          </a:solidFill>
          <a:ln w="6350">
            <a:solidFill>
              <a:srgbClr val="D8DCE4"/>
            </a:solidFill>
            <a:prstDash val="solid"/>
          </a:ln>
        </p:spPr>
      </p:sp>
      <p:sp>
        <p:nvSpPr>
          <p:cNvPr id="19" name="Shape 17"/>
          <p:cNvSpPr/>
          <p:nvPr/>
        </p:nvSpPr>
        <p:spPr>
          <a:xfrm>
            <a:off x="7772400" y="1508760"/>
            <a:ext cx="3474720" cy="54864"/>
          </a:xfrm>
          <a:prstGeom prst="rect">
            <a:avLst/>
          </a:prstGeom>
          <a:solidFill>
            <a:srgbClr val="2563EB"/>
          </a:solidFill>
          <a:ln/>
        </p:spPr>
      </p:sp>
      <p:sp>
        <p:nvSpPr>
          <p:cNvPr id="20" name="Text 18"/>
          <p:cNvSpPr/>
          <p:nvPr/>
        </p:nvSpPr>
        <p:spPr>
          <a:xfrm>
            <a:off x="7955280" y="169164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JobNimbus</a:t>
            </a:r>
            <a:endParaRPr lang="en-US" sz="1400" dirty="0"/>
          </a:p>
        </p:txBody>
      </p:sp>
      <p:sp>
        <p:nvSpPr>
          <p:cNvPr id="21" name="Text 19"/>
          <p:cNvSpPr/>
          <p:nvPr/>
        </p:nvSpPr>
        <p:spPr>
          <a:xfrm>
            <a:off x="7955280" y="201168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CRM &amp; job management</a:t>
            </a:r>
            <a:endParaRPr lang="en-US" sz="1000" dirty="0"/>
          </a:p>
        </p:txBody>
      </p:sp>
      <p:sp>
        <p:nvSpPr>
          <p:cNvPr id="22" name="Shape 20"/>
          <p:cNvSpPr/>
          <p:nvPr/>
        </p:nvSpPr>
        <p:spPr>
          <a:xfrm>
            <a:off x="7955280" y="2560320"/>
            <a:ext cx="914400" cy="256032"/>
          </a:xfrm>
          <a:prstGeom prst="roundRect">
            <a:avLst>
              <a:gd name="adj" fmla="val 14286"/>
            </a:avLst>
          </a:prstGeom>
          <a:solidFill>
            <a:srgbClr val="FBF0F1"/>
          </a:solidFill>
          <a:ln w="6350">
            <a:solidFill>
              <a:srgbClr val="BF1120">
                <a:alpha val="50000"/>
              </a:srgbClr>
            </a:solidFill>
            <a:prstDash val="solid"/>
          </a:ln>
        </p:spPr>
      </p:sp>
      <p:sp>
        <p:nvSpPr>
          <p:cNvPr id="23" name="Text 21"/>
          <p:cNvSpPr/>
          <p:nvPr/>
        </p:nvSpPr>
        <p:spPr>
          <a:xfrm>
            <a:off x="7955280" y="2560320"/>
            <a:ext cx="914400" cy="256032"/>
          </a:xfrm>
          <a:prstGeom prst="rect">
            <a:avLst/>
          </a:prstGeom>
          <a:noFill/>
          <a:ln/>
        </p:spPr>
        <p:txBody>
          <a:bodyPr wrap="square" rtlCol="0" anchor="ctr"/>
          <a:lstStyle/>
          <a:p>
            <a:pPr algn="ctr" indent="0" marL="0">
              <a:buNone/>
            </a:pPr>
            <a:r>
              <a:rPr lang="en-US" sz="700" spc="100" kern="0" dirty="0">
                <a:solidFill>
                  <a:srgbClr val="BF1120"/>
                </a:solidFill>
                <a:latin typeface="Courier New" pitchFamily="34" charset="0"/>
                <a:ea typeface="Courier New" pitchFamily="34" charset="-122"/>
                <a:cs typeface="Courier New" pitchFamily="34" charset="-120"/>
              </a:rPr>
              <a:t>REQUIRED</a:t>
            </a:r>
            <a:endParaRPr lang="en-US" sz="700" dirty="0"/>
          </a:p>
        </p:txBody>
      </p:sp>
      <p:sp>
        <p:nvSpPr>
          <p:cNvPr id="24" name="Shape 22"/>
          <p:cNvSpPr/>
          <p:nvPr/>
        </p:nvSpPr>
        <p:spPr>
          <a:xfrm>
            <a:off x="457200" y="3154680"/>
            <a:ext cx="3474720" cy="1463040"/>
          </a:xfrm>
          <a:prstGeom prst="roundRect">
            <a:avLst>
              <a:gd name="adj" fmla="val 3750"/>
            </a:avLst>
          </a:prstGeom>
          <a:solidFill>
            <a:srgbClr val="EEF3F8"/>
          </a:solidFill>
          <a:ln w="6350">
            <a:solidFill>
              <a:srgbClr val="D8DCE4"/>
            </a:solidFill>
            <a:prstDash val="solid"/>
          </a:ln>
        </p:spPr>
      </p:sp>
      <p:sp>
        <p:nvSpPr>
          <p:cNvPr id="25" name="Shape 23"/>
          <p:cNvSpPr/>
          <p:nvPr/>
        </p:nvSpPr>
        <p:spPr>
          <a:xfrm>
            <a:off x="457200" y="3154680"/>
            <a:ext cx="3474720" cy="54864"/>
          </a:xfrm>
          <a:prstGeom prst="rect">
            <a:avLst/>
          </a:prstGeom>
          <a:solidFill>
            <a:srgbClr val="E07B28"/>
          </a:solidFill>
          <a:ln/>
        </p:spPr>
      </p:sp>
      <p:sp>
        <p:nvSpPr>
          <p:cNvPr id="26" name="Text 24"/>
          <p:cNvSpPr/>
          <p:nvPr/>
        </p:nvSpPr>
        <p:spPr>
          <a:xfrm>
            <a:off x="640080" y="333756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Active Knocker</a:t>
            </a:r>
            <a:endParaRPr lang="en-US" sz="1400" dirty="0"/>
          </a:p>
        </p:txBody>
      </p:sp>
      <p:sp>
        <p:nvSpPr>
          <p:cNvPr id="27" name="Text 25"/>
          <p:cNvSpPr/>
          <p:nvPr/>
        </p:nvSpPr>
        <p:spPr>
          <a:xfrm>
            <a:off x="640080" y="365760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D2D tracking &amp; leads</a:t>
            </a:r>
            <a:endParaRPr lang="en-US" sz="1000" dirty="0"/>
          </a:p>
        </p:txBody>
      </p:sp>
      <p:sp>
        <p:nvSpPr>
          <p:cNvPr id="28" name="Shape 26"/>
          <p:cNvSpPr/>
          <p:nvPr/>
        </p:nvSpPr>
        <p:spPr>
          <a:xfrm>
            <a:off x="640080" y="4206240"/>
            <a:ext cx="914400" cy="256032"/>
          </a:xfrm>
          <a:prstGeom prst="roundRect">
            <a:avLst>
              <a:gd name="adj" fmla="val 14286"/>
            </a:avLst>
          </a:prstGeom>
          <a:solidFill>
            <a:srgbClr val="E8F5EE"/>
          </a:solidFill>
          <a:ln w="6350">
            <a:solidFill>
              <a:srgbClr val="1B6645">
                <a:alpha val="50000"/>
              </a:srgbClr>
            </a:solidFill>
            <a:prstDash val="solid"/>
          </a:ln>
        </p:spPr>
      </p:sp>
      <p:sp>
        <p:nvSpPr>
          <p:cNvPr id="29" name="Text 27"/>
          <p:cNvSpPr/>
          <p:nvPr/>
        </p:nvSpPr>
        <p:spPr>
          <a:xfrm>
            <a:off x="640080" y="4206240"/>
            <a:ext cx="914400" cy="256032"/>
          </a:xfrm>
          <a:prstGeom prst="rect">
            <a:avLst/>
          </a:prstGeom>
          <a:noFill/>
          <a:ln/>
        </p:spPr>
        <p:txBody>
          <a:bodyPr wrap="square" rtlCol="0" anchor="ctr"/>
          <a:lstStyle/>
          <a:p>
            <a:pPr algn="ctr" indent="0" marL="0">
              <a:buNone/>
            </a:pPr>
            <a:r>
              <a:rPr lang="en-US" sz="700" spc="100" kern="0" dirty="0">
                <a:solidFill>
                  <a:srgbClr val="1B6645"/>
                </a:solidFill>
                <a:latin typeface="Courier New" pitchFamily="34" charset="0"/>
                <a:ea typeface="Courier New" pitchFamily="34" charset="-122"/>
                <a:cs typeface="Courier New" pitchFamily="34" charset="-120"/>
              </a:rPr>
              <a:t>FIELD</a:t>
            </a:r>
            <a:endParaRPr lang="en-US" sz="700" dirty="0"/>
          </a:p>
        </p:txBody>
      </p:sp>
      <p:sp>
        <p:nvSpPr>
          <p:cNvPr id="30" name="Shape 28"/>
          <p:cNvSpPr/>
          <p:nvPr/>
        </p:nvSpPr>
        <p:spPr>
          <a:xfrm>
            <a:off x="4114800" y="3154680"/>
            <a:ext cx="3474720" cy="1463040"/>
          </a:xfrm>
          <a:prstGeom prst="roundRect">
            <a:avLst>
              <a:gd name="adj" fmla="val 3750"/>
            </a:avLst>
          </a:prstGeom>
          <a:solidFill>
            <a:srgbClr val="EEF3F8"/>
          </a:solidFill>
          <a:ln w="6350">
            <a:solidFill>
              <a:srgbClr val="D8DCE4"/>
            </a:solidFill>
            <a:prstDash val="solid"/>
          </a:ln>
        </p:spPr>
      </p:sp>
      <p:sp>
        <p:nvSpPr>
          <p:cNvPr id="31" name="Shape 29"/>
          <p:cNvSpPr/>
          <p:nvPr/>
        </p:nvSpPr>
        <p:spPr>
          <a:xfrm>
            <a:off x="4114800" y="3154680"/>
            <a:ext cx="3474720" cy="54864"/>
          </a:xfrm>
          <a:prstGeom prst="rect">
            <a:avLst/>
          </a:prstGeom>
          <a:solidFill>
            <a:srgbClr val="5865F2"/>
          </a:solidFill>
          <a:ln/>
        </p:spPr>
      </p:sp>
      <p:sp>
        <p:nvSpPr>
          <p:cNvPr id="32" name="Text 30"/>
          <p:cNvSpPr/>
          <p:nvPr/>
        </p:nvSpPr>
        <p:spPr>
          <a:xfrm>
            <a:off x="4297680" y="333756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Discord</a:t>
            </a:r>
            <a:endParaRPr lang="en-US" sz="1400" dirty="0"/>
          </a:p>
        </p:txBody>
      </p:sp>
      <p:sp>
        <p:nvSpPr>
          <p:cNvPr id="33" name="Text 31"/>
          <p:cNvSpPr/>
          <p:nvPr/>
        </p:nvSpPr>
        <p:spPr>
          <a:xfrm>
            <a:off x="4297680" y="365760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Team communication</a:t>
            </a:r>
            <a:endParaRPr lang="en-US" sz="1000" dirty="0"/>
          </a:p>
        </p:txBody>
      </p:sp>
      <p:sp>
        <p:nvSpPr>
          <p:cNvPr id="34" name="Shape 32"/>
          <p:cNvSpPr/>
          <p:nvPr/>
        </p:nvSpPr>
        <p:spPr>
          <a:xfrm>
            <a:off x="4297680" y="4206240"/>
            <a:ext cx="914400" cy="256032"/>
          </a:xfrm>
          <a:prstGeom prst="roundRect">
            <a:avLst>
              <a:gd name="adj" fmla="val 14286"/>
            </a:avLst>
          </a:prstGeom>
          <a:solidFill>
            <a:srgbClr val="FBF0F1"/>
          </a:solidFill>
          <a:ln w="6350">
            <a:solidFill>
              <a:srgbClr val="BF1120">
                <a:alpha val="50000"/>
              </a:srgbClr>
            </a:solidFill>
            <a:prstDash val="solid"/>
          </a:ln>
        </p:spPr>
      </p:sp>
      <p:sp>
        <p:nvSpPr>
          <p:cNvPr id="35" name="Text 33"/>
          <p:cNvSpPr/>
          <p:nvPr/>
        </p:nvSpPr>
        <p:spPr>
          <a:xfrm>
            <a:off x="4297680" y="4206240"/>
            <a:ext cx="914400" cy="256032"/>
          </a:xfrm>
          <a:prstGeom prst="rect">
            <a:avLst/>
          </a:prstGeom>
          <a:noFill/>
          <a:ln/>
        </p:spPr>
        <p:txBody>
          <a:bodyPr wrap="square" rtlCol="0" anchor="ctr"/>
          <a:lstStyle/>
          <a:p>
            <a:pPr algn="ctr" indent="0" marL="0">
              <a:buNone/>
            </a:pPr>
            <a:r>
              <a:rPr lang="en-US" sz="700" spc="100" kern="0" dirty="0">
                <a:solidFill>
                  <a:srgbClr val="BF1120"/>
                </a:solidFill>
                <a:latin typeface="Courier New" pitchFamily="34" charset="0"/>
                <a:ea typeface="Courier New" pitchFamily="34" charset="-122"/>
                <a:cs typeface="Courier New" pitchFamily="34" charset="-120"/>
              </a:rPr>
              <a:t>REQUIRED</a:t>
            </a:r>
            <a:endParaRPr lang="en-US" sz="700" dirty="0"/>
          </a:p>
        </p:txBody>
      </p:sp>
      <p:sp>
        <p:nvSpPr>
          <p:cNvPr id="36" name="Shape 34"/>
          <p:cNvSpPr/>
          <p:nvPr/>
        </p:nvSpPr>
        <p:spPr>
          <a:xfrm>
            <a:off x="7772400" y="3154680"/>
            <a:ext cx="3474720" cy="1463040"/>
          </a:xfrm>
          <a:prstGeom prst="roundRect">
            <a:avLst>
              <a:gd name="adj" fmla="val 3750"/>
            </a:avLst>
          </a:prstGeom>
          <a:solidFill>
            <a:srgbClr val="EEF3F8"/>
          </a:solidFill>
          <a:ln w="6350">
            <a:solidFill>
              <a:srgbClr val="D8DCE4"/>
            </a:solidFill>
            <a:prstDash val="solid"/>
          </a:ln>
        </p:spPr>
      </p:sp>
      <p:sp>
        <p:nvSpPr>
          <p:cNvPr id="37" name="Shape 35"/>
          <p:cNvSpPr/>
          <p:nvPr/>
        </p:nvSpPr>
        <p:spPr>
          <a:xfrm>
            <a:off x="7772400" y="3154680"/>
            <a:ext cx="3474720" cy="54864"/>
          </a:xfrm>
          <a:prstGeom prst="rect">
            <a:avLst/>
          </a:prstGeom>
          <a:solidFill>
            <a:srgbClr val="2ECC71"/>
          </a:solidFill>
          <a:ln/>
        </p:spPr>
      </p:sp>
      <p:sp>
        <p:nvSpPr>
          <p:cNvPr id="38" name="Text 36"/>
          <p:cNvSpPr/>
          <p:nvPr/>
        </p:nvSpPr>
        <p:spPr>
          <a:xfrm>
            <a:off x="7955280" y="333756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Natural Forms</a:t>
            </a:r>
            <a:endParaRPr lang="en-US" sz="1400" dirty="0"/>
          </a:p>
        </p:txBody>
      </p:sp>
      <p:sp>
        <p:nvSpPr>
          <p:cNvPr id="39" name="Text 37"/>
          <p:cNvSpPr/>
          <p:nvPr/>
        </p:nvSpPr>
        <p:spPr>
          <a:xfrm>
            <a:off x="7955280" y="365760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Digital forms &amp; data</a:t>
            </a:r>
            <a:endParaRPr lang="en-US" sz="1000" dirty="0"/>
          </a:p>
        </p:txBody>
      </p:sp>
      <p:sp>
        <p:nvSpPr>
          <p:cNvPr id="40" name="Shape 38"/>
          <p:cNvSpPr/>
          <p:nvPr/>
        </p:nvSpPr>
        <p:spPr>
          <a:xfrm>
            <a:off x="7955280" y="4206240"/>
            <a:ext cx="914400" cy="256032"/>
          </a:xfrm>
          <a:prstGeom prst="roundRect">
            <a:avLst>
              <a:gd name="adj" fmla="val 14286"/>
            </a:avLst>
          </a:prstGeom>
          <a:solidFill>
            <a:srgbClr val="E8F5EE"/>
          </a:solidFill>
          <a:ln w="6350">
            <a:solidFill>
              <a:srgbClr val="1B6645">
                <a:alpha val="50000"/>
              </a:srgbClr>
            </a:solidFill>
            <a:prstDash val="solid"/>
          </a:ln>
        </p:spPr>
      </p:sp>
      <p:sp>
        <p:nvSpPr>
          <p:cNvPr id="41" name="Text 39"/>
          <p:cNvSpPr/>
          <p:nvPr/>
        </p:nvSpPr>
        <p:spPr>
          <a:xfrm>
            <a:off x="7955280" y="4206240"/>
            <a:ext cx="914400" cy="256032"/>
          </a:xfrm>
          <a:prstGeom prst="rect">
            <a:avLst/>
          </a:prstGeom>
          <a:noFill/>
          <a:ln/>
        </p:spPr>
        <p:txBody>
          <a:bodyPr wrap="square" rtlCol="0" anchor="ctr"/>
          <a:lstStyle/>
          <a:p>
            <a:pPr algn="ctr" indent="0" marL="0">
              <a:buNone/>
            </a:pPr>
            <a:r>
              <a:rPr lang="en-US" sz="700" spc="100" kern="0" dirty="0">
                <a:solidFill>
                  <a:srgbClr val="1B6645"/>
                </a:solidFill>
                <a:latin typeface="Courier New" pitchFamily="34" charset="0"/>
                <a:ea typeface="Courier New" pitchFamily="34" charset="-122"/>
                <a:cs typeface="Courier New" pitchFamily="34" charset="-120"/>
              </a:rPr>
              <a:t>FIELD</a:t>
            </a:r>
            <a:endParaRPr lang="en-US" sz="700" dirty="0"/>
          </a:p>
        </p:txBody>
      </p:sp>
      <p:sp>
        <p:nvSpPr>
          <p:cNvPr id="42" name="Shape 40"/>
          <p:cNvSpPr/>
          <p:nvPr/>
        </p:nvSpPr>
        <p:spPr>
          <a:xfrm>
            <a:off x="457200" y="4800600"/>
            <a:ext cx="3474720" cy="1463040"/>
          </a:xfrm>
          <a:prstGeom prst="roundRect">
            <a:avLst>
              <a:gd name="adj" fmla="val 3750"/>
            </a:avLst>
          </a:prstGeom>
          <a:solidFill>
            <a:srgbClr val="EEF3F8"/>
          </a:solidFill>
          <a:ln w="6350">
            <a:solidFill>
              <a:srgbClr val="D8DCE4"/>
            </a:solidFill>
            <a:prstDash val="solid"/>
          </a:ln>
        </p:spPr>
      </p:sp>
      <p:sp>
        <p:nvSpPr>
          <p:cNvPr id="43" name="Shape 41"/>
          <p:cNvSpPr/>
          <p:nvPr/>
        </p:nvSpPr>
        <p:spPr>
          <a:xfrm>
            <a:off x="457200" y="4800600"/>
            <a:ext cx="3474720" cy="54864"/>
          </a:xfrm>
          <a:prstGeom prst="rect">
            <a:avLst/>
          </a:prstGeom>
          <a:solidFill>
            <a:srgbClr val="BF1120"/>
          </a:solidFill>
          <a:ln/>
        </p:spPr>
      </p:sp>
      <p:sp>
        <p:nvSpPr>
          <p:cNvPr id="44" name="Text 42"/>
          <p:cNvSpPr/>
          <p:nvPr/>
        </p:nvSpPr>
        <p:spPr>
          <a:xfrm>
            <a:off x="640080" y="498348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ARC Site</a:t>
            </a:r>
            <a:endParaRPr lang="en-US" sz="1400" dirty="0"/>
          </a:p>
        </p:txBody>
      </p:sp>
      <p:sp>
        <p:nvSpPr>
          <p:cNvPr id="45" name="Text 43"/>
          <p:cNvSpPr/>
          <p:nvPr/>
        </p:nvSpPr>
        <p:spPr>
          <a:xfrm>
            <a:off x="640080" y="530352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Mobile estimating</a:t>
            </a:r>
            <a:endParaRPr lang="en-US" sz="1000" dirty="0"/>
          </a:p>
        </p:txBody>
      </p:sp>
      <p:sp>
        <p:nvSpPr>
          <p:cNvPr id="46" name="Shape 44"/>
          <p:cNvSpPr/>
          <p:nvPr/>
        </p:nvSpPr>
        <p:spPr>
          <a:xfrm>
            <a:off x="640080" y="5852160"/>
            <a:ext cx="914400" cy="256032"/>
          </a:xfrm>
          <a:prstGeom prst="roundRect">
            <a:avLst>
              <a:gd name="adj" fmla="val 14286"/>
            </a:avLst>
          </a:prstGeom>
          <a:solidFill>
            <a:srgbClr val="E8F5EE"/>
          </a:solidFill>
          <a:ln w="6350">
            <a:solidFill>
              <a:srgbClr val="1B6645">
                <a:alpha val="50000"/>
              </a:srgbClr>
            </a:solidFill>
            <a:prstDash val="solid"/>
          </a:ln>
        </p:spPr>
      </p:sp>
      <p:sp>
        <p:nvSpPr>
          <p:cNvPr id="47" name="Text 45"/>
          <p:cNvSpPr/>
          <p:nvPr/>
        </p:nvSpPr>
        <p:spPr>
          <a:xfrm>
            <a:off x="640080" y="5852160"/>
            <a:ext cx="914400" cy="256032"/>
          </a:xfrm>
          <a:prstGeom prst="rect">
            <a:avLst/>
          </a:prstGeom>
          <a:noFill/>
          <a:ln/>
        </p:spPr>
        <p:txBody>
          <a:bodyPr wrap="square" rtlCol="0" anchor="ctr"/>
          <a:lstStyle/>
          <a:p>
            <a:pPr algn="ctr" indent="0" marL="0">
              <a:buNone/>
            </a:pPr>
            <a:r>
              <a:rPr lang="en-US" sz="700" spc="100" kern="0" dirty="0">
                <a:solidFill>
                  <a:srgbClr val="1B6645"/>
                </a:solidFill>
                <a:latin typeface="Courier New" pitchFamily="34" charset="0"/>
                <a:ea typeface="Courier New" pitchFamily="34" charset="-122"/>
                <a:cs typeface="Courier New" pitchFamily="34" charset="-120"/>
              </a:rPr>
              <a:t>FIELD</a:t>
            </a:r>
            <a:endParaRPr lang="en-US" sz="700" dirty="0"/>
          </a:p>
        </p:txBody>
      </p:sp>
      <p:sp>
        <p:nvSpPr>
          <p:cNvPr id="48" name="Shape 46"/>
          <p:cNvSpPr/>
          <p:nvPr/>
        </p:nvSpPr>
        <p:spPr>
          <a:xfrm>
            <a:off x="4114800" y="4800600"/>
            <a:ext cx="3474720" cy="1463040"/>
          </a:xfrm>
          <a:prstGeom prst="roundRect">
            <a:avLst>
              <a:gd name="adj" fmla="val 3750"/>
            </a:avLst>
          </a:prstGeom>
          <a:solidFill>
            <a:srgbClr val="EEF3F8"/>
          </a:solidFill>
          <a:ln w="6350">
            <a:solidFill>
              <a:srgbClr val="D8DCE4"/>
            </a:solidFill>
            <a:prstDash val="solid"/>
          </a:ln>
        </p:spPr>
      </p:sp>
      <p:sp>
        <p:nvSpPr>
          <p:cNvPr id="49" name="Shape 47"/>
          <p:cNvSpPr/>
          <p:nvPr/>
        </p:nvSpPr>
        <p:spPr>
          <a:xfrm>
            <a:off x="4114800" y="4800600"/>
            <a:ext cx="3474720" cy="54864"/>
          </a:xfrm>
          <a:prstGeom prst="rect">
            <a:avLst/>
          </a:prstGeom>
          <a:solidFill>
            <a:srgbClr val="445568"/>
          </a:solidFill>
          <a:ln/>
        </p:spPr>
      </p:sp>
      <p:sp>
        <p:nvSpPr>
          <p:cNvPr id="50" name="Text 48"/>
          <p:cNvSpPr/>
          <p:nvPr/>
        </p:nvSpPr>
        <p:spPr>
          <a:xfrm>
            <a:off x="4297680" y="498348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Turbo Scan</a:t>
            </a:r>
            <a:endParaRPr lang="en-US" sz="1400" dirty="0"/>
          </a:p>
        </p:txBody>
      </p:sp>
      <p:sp>
        <p:nvSpPr>
          <p:cNvPr id="51" name="Text 49"/>
          <p:cNvSpPr/>
          <p:nvPr/>
        </p:nvSpPr>
        <p:spPr>
          <a:xfrm>
            <a:off x="4297680" y="530352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Mobile scanning</a:t>
            </a:r>
            <a:endParaRPr lang="en-US" sz="1000" dirty="0"/>
          </a:p>
        </p:txBody>
      </p:sp>
      <p:sp>
        <p:nvSpPr>
          <p:cNvPr id="52" name="Shape 50"/>
          <p:cNvSpPr/>
          <p:nvPr/>
        </p:nvSpPr>
        <p:spPr>
          <a:xfrm>
            <a:off x="4297680" y="5852160"/>
            <a:ext cx="914400" cy="256032"/>
          </a:xfrm>
          <a:prstGeom prst="roundRect">
            <a:avLst>
              <a:gd name="adj" fmla="val 14286"/>
            </a:avLst>
          </a:prstGeom>
          <a:solidFill>
            <a:srgbClr val="EEF3F8"/>
          </a:solidFill>
          <a:ln w="6350">
            <a:solidFill>
              <a:srgbClr val="5E6A7A">
                <a:alpha val="50000"/>
              </a:srgbClr>
            </a:solidFill>
            <a:prstDash val="solid"/>
          </a:ln>
        </p:spPr>
      </p:sp>
      <p:sp>
        <p:nvSpPr>
          <p:cNvPr id="53" name="Text 51"/>
          <p:cNvSpPr/>
          <p:nvPr/>
        </p:nvSpPr>
        <p:spPr>
          <a:xfrm>
            <a:off x="4297680" y="5852160"/>
            <a:ext cx="914400" cy="256032"/>
          </a:xfrm>
          <a:prstGeom prst="rect">
            <a:avLst/>
          </a:prstGeom>
          <a:noFill/>
          <a:ln/>
        </p:spPr>
        <p:txBody>
          <a:bodyPr wrap="square" rtlCol="0" anchor="ctr"/>
          <a:lstStyle/>
          <a:p>
            <a:pPr algn="ctr" indent="0" marL="0">
              <a:buNone/>
            </a:pPr>
            <a:r>
              <a:rPr lang="en-US" sz="700" spc="100" kern="0" dirty="0">
                <a:solidFill>
                  <a:srgbClr val="5E6A7A"/>
                </a:solidFill>
                <a:latin typeface="Courier New" pitchFamily="34" charset="0"/>
                <a:ea typeface="Courier New" pitchFamily="34" charset="-122"/>
                <a:cs typeface="Courier New" pitchFamily="34" charset="-120"/>
              </a:rPr>
              <a:t>OFFICE</a:t>
            </a:r>
            <a:endParaRPr lang="en-US" sz="700" dirty="0"/>
          </a:p>
        </p:txBody>
      </p:sp>
      <p:sp>
        <p:nvSpPr>
          <p:cNvPr id="54" name="Shape 52"/>
          <p:cNvSpPr/>
          <p:nvPr/>
        </p:nvSpPr>
        <p:spPr>
          <a:xfrm>
            <a:off x="7772400" y="4800600"/>
            <a:ext cx="3474720" cy="1463040"/>
          </a:xfrm>
          <a:prstGeom prst="roundRect">
            <a:avLst>
              <a:gd name="adj" fmla="val 3750"/>
            </a:avLst>
          </a:prstGeom>
          <a:solidFill>
            <a:srgbClr val="EEF3F8"/>
          </a:solidFill>
          <a:ln w="6350">
            <a:solidFill>
              <a:srgbClr val="D8DCE4"/>
            </a:solidFill>
            <a:prstDash val="solid"/>
          </a:ln>
        </p:spPr>
      </p:sp>
      <p:sp>
        <p:nvSpPr>
          <p:cNvPr id="55" name="Shape 53"/>
          <p:cNvSpPr/>
          <p:nvPr/>
        </p:nvSpPr>
        <p:spPr>
          <a:xfrm>
            <a:off x="7772400" y="4800600"/>
            <a:ext cx="3474720" cy="54864"/>
          </a:xfrm>
          <a:prstGeom prst="rect">
            <a:avLst/>
          </a:prstGeom>
          <a:solidFill>
            <a:srgbClr val="1A3461"/>
          </a:solidFill>
          <a:ln/>
        </p:spPr>
      </p:sp>
      <p:sp>
        <p:nvSpPr>
          <p:cNvPr id="56" name="Text 54"/>
          <p:cNvSpPr/>
          <p:nvPr/>
        </p:nvSpPr>
        <p:spPr>
          <a:xfrm>
            <a:off x="7955280" y="498348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Measure App</a:t>
            </a:r>
            <a:endParaRPr lang="en-US" sz="1400" dirty="0"/>
          </a:p>
        </p:txBody>
      </p:sp>
      <p:sp>
        <p:nvSpPr>
          <p:cNvPr id="57" name="Text 55"/>
          <p:cNvSpPr/>
          <p:nvPr/>
        </p:nvSpPr>
        <p:spPr>
          <a:xfrm>
            <a:off x="7955280" y="530352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Quick confirmations</a:t>
            </a:r>
            <a:endParaRPr lang="en-US" sz="1000" dirty="0"/>
          </a:p>
        </p:txBody>
      </p:sp>
      <p:sp>
        <p:nvSpPr>
          <p:cNvPr id="58" name="Shape 56"/>
          <p:cNvSpPr/>
          <p:nvPr/>
        </p:nvSpPr>
        <p:spPr>
          <a:xfrm>
            <a:off x="7955280" y="5852160"/>
            <a:ext cx="914400" cy="256032"/>
          </a:xfrm>
          <a:prstGeom prst="roundRect">
            <a:avLst>
              <a:gd name="adj" fmla="val 14286"/>
            </a:avLst>
          </a:prstGeom>
          <a:solidFill>
            <a:srgbClr val="E8F5EE"/>
          </a:solidFill>
          <a:ln w="6350">
            <a:solidFill>
              <a:srgbClr val="1B6645">
                <a:alpha val="50000"/>
              </a:srgbClr>
            </a:solidFill>
            <a:prstDash val="solid"/>
          </a:ln>
        </p:spPr>
      </p:sp>
      <p:sp>
        <p:nvSpPr>
          <p:cNvPr id="59" name="Text 57"/>
          <p:cNvSpPr/>
          <p:nvPr/>
        </p:nvSpPr>
        <p:spPr>
          <a:xfrm>
            <a:off x="7955280" y="5852160"/>
            <a:ext cx="914400" cy="256032"/>
          </a:xfrm>
          <a:prstGeom prst="rect">
            <a:avLst/>
          </a:prstGeom>
          <a:noFill/>
          <a:ln/>
        </p:spPr>
        <p:txBody>
          <a:bodyPr wrap="square" rtlCol="0" anchor="ctr"/>
          <a:lstStyle/>
          <a:p>
            <a:pPr algn="ctr" indent="0" marL="0">
              <a:buNone/>
            </a:pPr>
            <a:r>
              <a:rPr lang="en-US" sz="700" spc="100" kern="0" dirty="0">
                <a:solidFill>
                  <a:srgbClr val="1B6645"/>
                </a:solidFill>
                <a:latin typeface="Courier New" pitchFamily="34" charset="0"/>
                <a:ea typeface="Courier New" pitchFamily="34" charset="-122"/>
                <a:cs typeface="Courier New" pitchFamily="34" charset="-120"/>
              </a:rPr>
              <a:t>FIELD</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234"/>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BF1120"/>
          </a:solidFill>
          <a:ln/>
        </p:spPr>
      </p:sp>
      <p:sp>
        <p:nvSpPr>
          <p:cNvPr id="3" name="Text 1"/>
          <p:cNvSpPr/>
          <p:nvPr/>
        </p:nvSpPr>
        <p:spPr>
          <a:xfrm>
            <a:off x="457200" y="365760"/>
            <a:ext cx="3657600" cy="228600"/>
          </a:xfrm>
          <a:prstGeom prst="rect">
            <a:avLst/>
          </a:prstGeom>
          <a:noFill/>
          <a:ln/>
        </p:spPr>
        <p:txBody>
          <a:bodyPr wrap="square" rtlCol="0" anchor="ctr"/>
          <a:lstStyle/>
          <a:p>
            <a:pPr indent="0" marL="0">
              <a:buNone/>
            </a:pPr>
            <a:r>
              <a:rPr lang="en-US" sz="800" spc="200" kern="0" dirty="0">
                <a:solidFill>
                  <a:srgbClr val="8898AA"/>
                </a:solidFill>
                <a:latin typeface="Courier New" pitchFamily="34" charset="0"/>
                <a:ea typeface="Courier New" pitchFamily="34" charset="-122"/>
                <a:cs typeface="Courier New" pitchFamily="34" charset="-120"/>
              </a:rPr>
              <a:t>14  ACKNOWLEDGMENT</a:t>
            </a:r>
            <a:endParaRPr lang="en-US" sz="800" dirty="0"/>
          </a:p>
        </p:txBody>
      </p:sp>
      <p:sp>
        <p:nvSpPr>
          <p:cNvPr id="4" name="Text 2"/>
          <p:cNvSpPr/>
          <p:nvPr/>
        </p:nvSpPr>
        <p:spPr>
          <a:xfrm>
            <a:off x="457200" y="731520"/>
            <a:ext cx="7315200" cy="54864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Acknowledgment</a:t>
            </a:r>
            <a:endParaRPr lang="en-US" sz="3400" dirty="0"/>
          </a:p>
        </p:txBody>
      </p:sp>
      <p:sp>
        <p:nvSpPr>
          <p:cNvPr id="5" name="Text 3"/>
          <p:cNvSpPr/>
          <p:nvPr/>
        </p:nvSpPr>
        <p:spPr>
          <a:xfrm>
            <a:off x="457200" y="1371600"/>
            <a:ext cx="9144000" cy="365760"/>
          </a:xfrm>
          <a:prstGeom prst="rect">
            <a:avLst/>
          </a:prstGeom>
          <a:noFill/>
          <a:ln/>
        </p:spPr>
        <p:txBody>
          <a:bodyPr wrap="square" rtlCol="0" anchor="ctr"/>
          <a:lstStyle/>
          <a:p>
            <a:pPr indent="0" marL="0">
              <a:buNone/>
            </a:pPr>
            <a:r>
              <a:rPr lang="en-US" sz="1200" i="1" dirty="0">
                <a:solidFill>
                  <a:srgbClr val="8898AA"/>
                </a:solidFill>
                <a:latin typeface="Calibri" pitchFamily="34" charset="0"/>
                <a:ea typeface="Calibri" pitchFamily="34" charset="-122"/>
                <a:cs typeface="Calibri" pitchFamily="34" charset="-120"/>
              </a:rPr>
              <a:t>Review each item. Sign below to confirm receipt and understanding of this orientation kit.</a:t>
            </a:r>
            <a:endParaRPr lang="en-US" sz="1200" dirty="0"/>
          </a:p>
        </p:txBody>
      </p:sp>
      <p:sp>
        <p:nvSpPr>
          <p:cNvPr id="6" name="Shape 4"/>
          <p:cNvSpPr/>
          <p:nvPr/>
        </p:nvSpPr>
        <p:spPr>
          <a:xfrm>
            <a:off x="457200" y="2103120"/>
            <a:ext cx="11247120" cy="4114800"/>
          </a:xfrm>
          <a:prstGeom prst="roundRect">
            <a:avLst>
              <a:gd name="adj" fmla="val 2222"/>
            </a:avLst>
          </a:prstGeom>
          <a:solidFill>
            <a:srgbClr val="FFFFFF">
              <a:alpha val="4000"/>
            </a:srgbClr>
          </a:solidFill>
          <a:ln w="3810">
            <a:solidFill>
              <a:srgbClr val="FFFFFF">
                <a:alpha val="15000"/>
              </a:srgbClr>
            </a:solidFill>
            <a:prstDash val="solid"/>
          </a:ln>
        </p:spPr>
      </p:sp>
      <p:sp>
        <p:nvSpPr>
          <p:cNvPr id="7" name="Shape 5"/>
          <p:cNvSpPr/>
          <p:nvPr/>
        </p:nvSpPr>
        <p:spPr>
          <a:xfrm>
            <a:off x="457200" y="2103120"/>
            <a:ext cx="11247120" cy="548640"/>
          </a:xfrm>
          <a:prstGeom prst="rect">
            <a:avLst/>
          </a:prstGeom>
          <a:solidFill>
            <a:srgbClr val="1B2A3B"/>
          </a:solidFill>
          <a:ln/>
        </p:spPr>
      </p:sp>
      <p:sp>
        <p:nvSpPr>
          <p:cNvPr id="8" name="Text 6"/>
          <p:cNvSpPr/>
          <p:nvPr/>
        </p:nvSpPr>
        <p:spPr>
          <a:xfrm>
            <a:off x="731520" y="2103120"/>
            <a:ext cx="5486400" cy="54864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Employee Signature Block</a:t>
            </a:r>
            <a:endParaRPr lang="en-US" sz="1600" dirty="0"/>
          </a:p>
        </p:txBody>
      </p:sp>
      <p:sp>
        <p:nvSpPr>
          <p:cNvPr id="9" name="Text 7"/>
          <p:cNvSpPr/>
          <p:nvPr/>
        </p:nvSpPr>
        <p:spPr>
          <a:xfrm>
            <a:off x="6400800" y="2103120"/>
            <a:ext cx="5029200" cy="548640"/>
          </a:xfrm>
          <a:prstGeom prst="rect">
            <a:avLst/>
          </a:prstGeom>
          <a:noFill/>
          <a:ln/>
        </p:spPr>
        <p:txBody>
          <a:bodyPr wrap="square" rtlCol="0" anchor="ctr"/>
          <a:lstStyle/>
          <a:p>
            <a:pPr algn="r" indent="0" marL="0">
              <a:buNone/>
            </a:pPr>
            <a:r>
              <a:rPr lang="en-US" sz="700" spc="100" kern="0" dirty="0">
                <a:solidFill>
                  <a:srgbClr val="8898AA"/>
                </a:solidFill>
                <a:latin typeface="Courier New" pitchFamily="34" charset="0"/>
                <a:ea typeface="Courier New" pitchFamily="34" charset="-122"/>
                <a:cs typeface="Courier New" pitchFamily="34" charset="-120"/>
              </a:rPr>
              <a:t>Complete Custom Fence · New Hire Orientation Kit · 2026</a:t>
            </a:r>
            <a:endParaRPr lang="en-US" sz="700" dirty="0"/>
          </a:p>
        </p:txBody>
      </p:sp>
      <p:sp>
        <p:nvSpPr>
          <p:cNvPr id="10" name="Text 8"/>
          <p:cNvSpPr/>
          <p:nvPr/>
        </p:nvSpPr>
        <p:spPr>
          <a:xfrm>
            <a:off x="914400" y="3108960"/>
            <a:ext cx="4572000" cy="182880"/>
          </a:xfrm>
          <a:prstGeom prst="rect">
            <a:avLst/>
          </a:prstGeom>
          <a:noFill/>
          <a:ln/>
        </p:spPr>
        <p:txBody>
          <a:bodyPr wrap="square" rtlCol="0" anchor="ctr"/>
          <a:lstStyle/>
          <a:p>
            <a:pPr indent="0" marL="0">
              <a:buNone/>
            </a:pPr>
            <a:r>
              <a:rPr lang="en-US" sz="700" spc="150" kern="0" dirty="0">
                <a:solidFill>
                  <a:srgbClr val="8898AA"/>
                </a:solidFill>
                <a:latin typeface="Courier New" pitchFamily="34" charset="0"/>
                <a:ea typeface="Courier New" pitchFamily="34" charset="-122"/>
                <a:cs typeface="Courier New" pitchFamily="34" charset="-120"/>
              </a:rPr>
              <a:t>EMPLOYEE PRINTED NAME</a:t>
            </a:r>
            <a:endParaRPr lang="en-US" sz="700" dirty="0"/>
          </a:p>
        </p:txBody>
      </p:sp>
      <p:sp>
        <p:nvSpPr>
          <p:cNvPr id="11" name="Shape 9"/>
          <p:cNvSpPr/>
          <p:nvPr/>
        </p:nvSpPr>
        <p:spPr>
          <a:xfrm>
            <a:off x="914400" y="3657600"/>
            <a:ext cx="4572000" cy="18288"/>
          </a:xfrm>
          <a:prstGeom prst="rect">
            <a:avLst/>
          </a:prstGeom>
          <a:solidFill>
            <a:srgbClr val="D8DCE4"/>
          </a:solidFill>
          <a:ln/>
        </p:spPr>
      </p:sp>
      <p:sp>
        <p:nvSpPr>
          <p:cNvPr id="12" name="Text 10"/>
          <p:cNvSpPr/>
          <p:nvPr/>
        </p:nvSpPr>
        <p:spPr>
          <a:xfrm>
            <a:off x="6217920" y="3108960"/>
            <a:ext cx="4572000" cy="182880"/>
          </a:xfrm>
          <a:prstGeom prst="rect">
            <a:avLst/>
          </a:prstGeom>
          <a:noFill/>
          <a:ln/>
        </p:spPr>
        <p:txBody>
          <a:bodyPr wrap="square" rtlCol="0" anchor="ctr"/>
          <a:lstStyle/>
          <a:p>
            <a:pPr indent="0" marL="0">
              <a:buNone/>
            </a:pPr>
            <a:r>
              <a:rPr lang="en-US" sz="700" spc="150" kern="0" dirty="0">
                <a:solidFill>
                  <a:srgbClr val="8898AA"/>
                </a:solidFill>
                <a:latin typeface="Courier New" pitchFamily="34" charset="0"/>
                <a:ea typeface="Courier New" pitchFamily="34" charset="-122"/>
                <a:cs typeface="Courier New" pitchFamily="34" charset="-120"/>
              </a:rPr>
              <a:t>EMPLOYEE SIGNATURE</a:t>
            </a:r>
            <a:endParaRPr lang="en-US" sz="700" dirty="0"/>
          </a:p>
        </p:txBody>
      </p:sp>
      <p:sp>
        <p:nvSpPr>
          <p:cNvPr id="13" name="Shape 11"/>
          <p:cNvSpPr/>
          <p:nvPr/>
        </p:nvSpPr>
        <p:spPr>
          <a:xfrm>
            <a:off x="6217920" y="3657600"/>
            <a:ext cx="4572000" cy="18288"/>
          </a:xfrm>
          <a:prstGeom prst="rect">
            <a:avLst/>
          </a:prstGeom>
          <a:solidFill>
            <a:srgbClr val="D8DCE4"/>
          </a:solidFill>
          <a:ln/>
        </p:spPr>
      </p:sp>
      <p:sp>
        <p:nvSpPr>
          <p:cNvPr id="14" name="Text 12"/>
          <p:cNvSpPr/>
          <p:nvPr/>
        </p:nvSpPr>
        <p:spPr>
          <a:xfrm>
            <a:off x="914400" y="4754880"/>
            <a:ext cx="4572000" cy="182880"/>
          </a:xfrm>
          <a:prstGeom prst="rect">
            <a:avLst/>
          </a:prstGeom>
          <a:noFill/>
          <a:ln/>
        </p:spPr>
        <p:txBody>
          <a:bodyPr wrap="square" rtlCol="0" anchor="ctr"/>
          <a:lstStyle/>
          <a:p>
            <a:pPr indent="0" marL="0">
              <a:buNone/>
            </a:pPr>
            <a:r>
              <a:rPr lang="en-US" sz="700" spc="150" kern="0" dirty="0">
                <a:solidFill>
                  <a:srgbClr val="8898AA"/>
                </a:solidFill>
                <a:latin typeface="Courier New" pitchFamily="34" charset="0"/>
                <a:ea typeface="Courier New" pitchFamily="34" charset="-122"/>
                <a:cs typeface="Courier New" pitchFamily="34" charset="-120"/>
              </a:rPr>
              <a:t>DATE</a:t>
            </a:r>
            <a:endParaRPr lang="en-US" sz="700" dirty="0"/>
          </a:p>
        </p:txBody>
      </p:sp>
      <p:sp>
        <p:nvSpPr>
          <p:cNvPr id="15" name="Shape 13"/>
          <p:cNvSpPr/>
          <p:nvPr/>
        </p:nvSpPr>
        <p:spPr>
          <a:xfrm>
            <a:off x="914400" y="5303520"/>
            <a:ext cx="4572000" cy="18288"/>
          </a:xfrm>
          <a:prstGeom prst="rect">
            <a:avLst/>
          </a:prstGeom>
          <a:solidFill>
            <a:srgbClr val="D8DCE4"/>
          </a:solidFill>
          <a:ln/>
        </p:spPr>
      </p:sp>
      <p:sp>
        <p:nvSpPr>
          <p:cNvPr id="16" name="Text 14"/>
          <p:cNvSpPr/>
          <p:nvPr/>
        </p:nvSpPr>
        <p:spPr>
          <a:xfrm>
            <a:off x="6217920" y="4754880"/>
            <a:ext cx="4572000" cy="182880"/>
          </a:xfrm>
          <a:prstGeom prst="rect">
            <a:avLst/>
          </a:prstGeom>
          <a:noFill/>
          <a:ln/>
        </p:spPr>
        <p:txBody>
          <a:bodyPr wrap="square" rtlCol="0" anchor="ctr"/>
          <a:lstStyle/>
          <a:p>
            <a:pPr indent="0" marL="0">
              <a:buNone/>
            </a:pPr>
            <a:r>
              <a:rPr lang="en-US" sz="700" spc="150" kern="0" dirty="0">
                <a:solidFill>
                  <a:srgbClr val="8898AA"/>
                </a:solidFill>
                <a:latin typeface="Courier New" pitchFamily="34" charset="0"/>
                <a:ea typeface="Courier New" pitchFamily="34" charset="-122"/>
                <a:cs typeface="Courier New" pitchFamily="34" charset="-120"/>
              </a:rPr>
              <a:t>SUPERVISOR SIGNATURE &amp; TITLE</a:t>
            </a:r>
            <a:endParaRPr lang="en-US" sz="700" dirty="0"/>
          </a:p>
        </p:txBody>
      </p:sp>
      <p:sp>
        <p:nvSpPr>
          <p:cNvPr id="17" name="Shape 15"/>
          <p:cNvSpPr/>
          <p:nvPr/>
        </p:nvSpPr>
        <p:spPr>
          <a:xfrm>
            <a:off x="6217920" y="5303520"/>
            <a:ext cx="4572000" cy="18288"/>
          </a:xfrm>
          <a:prstGeom prst="rect">
            <a:avLst/>
          </a:prstGeom>
          <a:solidFill>
            <a:srgbClr val="D8DCE4"/>
          </a:solidFill>
          <a:ln/>
        </p:spPr>
      </p:sp>
      <p:sp>
        <p:nvSpPr>
          <p:cNvPr id="18" name="Text 16"/>
          <p:cNvSpPr/>
          <p:nvPr/>
        </p:nvSpPr>
        <p:spPr>
          <a:xfrm>
            <a:off x="457200" y="6400800"/>
            <a:ext cx="10972800" cy="274320"/>
          </a:xfrm>
          <a:prstGeom prst="rect">
            <a:avLst/>
          </a:prstGeom>
          <a:noFill/>
          <a:ln/>
        </p:spPr>
        <p:txBody>
          <a:bodyPr wrap="square" rtlCol="0" anchor="ctr"/>
          <a:lstStyle/>
          <a:p>
            <a:pPr algn="ctr" indent="0" marL="0">
              <a:buNone/>
            </a:pPr>
            <a:r>
              <a:rPr lang="en-US" sz="700" spc="100" kern="0" dirty="0">
                <a:solidFill>
                  <a:srgbClr val="5A6A7A"/>
                </a:solidFill>
                <a:latin typeface="Courier New" pitchFamily="34" charset="0"/>
                <a:ea typeface="Courier New" pitchFamily="34" charset="-122"/>
                <a:cs typeface="Courier New" pitchFamily="34" charset="-120"/>
              </a:rPr>
              <a:t>Complete Custom Fence  ·  720 W Broad St, Groveland FL 34736  ·  (352) 429-9999</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CCF New Hire Orientation Deck</dc:title>
  <dc:subject>New Hire Orientation</dc:subject>
  <dc:creator>Complete Custom Fence</dc:creator>
  <cp:lastModifiedBy>Complete Custom Fence</cp:lastModifiedBy>
  <cp:revision>1</cp:revision>
  <dcterms:created xsi:type="dcterms:W3CDTF">2026-03-25T21:35:08Z</dcterms:created>
  <dcterms:modified xsi:type="dcterms:W3CDTF">2026-03-25T21:35:08Z</dcterms:modified>
</cp:coreProperties>
</file>